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1811000" cy="7334250"/>
  <p:notesSz cx="7334250" cy="11811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4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47997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>
            <a:extLst>
              <a:ext uri="{FF2B5EF4-FFF2-40B4-BE49-F238E27FC236}">
                <a16:creationId xmlns:a16="http://schemas.microsoft.com/office/drawing/2014/main" id="{FF0B4526-D520-78D7-49BC-FFE67C96F1F6}"/>
              </a:ext>
            </a:extLst>
          </p:cNvPr>
          <p:cNvSpPr/>
          <p:nvPr/>
        </p:nvSpPr>
        <p:spPr>
          <a:xfrm>
            <a:off x="3456421" y="1646210"/>
            <a:ext cx="7908638" cy="2495550"/>
          </a:xfrm>
          <a:prstGeom prst="roundRect">
            <a:avLst>
              <a:gd name="adj" fmla="val 6107"/>
            </a:avLst>
          </a:prstGeom>
          <a:solidFill>
            <a:schemeClr val="bg2"/>
          </a:solidFill>
          <a:ln w="10636">
            <a:solidFill>
              <a:srgbClr val="B9BCC4"/>
            </a:solidFill>
            <a:prstDash val="solid"/>
          </a:ln>
        </p:spPr>
        <p:txBody>
          <a:bodyPr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2" name="Text 0"/>
          <p:cNvSpPr/>
          <p:nvPr/>
        </p:nvSpPr>
        <p:spPr>
          <a:xfrm>
            <a:off x="323850" y="482900"/>
            <a:ext cx="679450" cy="165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000" b="1" kern="0" spc="188" dirty="0">
                <a:solidFill>
                  <a:srgbClr val="8A8E98"/>
                </a:solidFill>
                <a:ea typeface="Helvetica" pitchFamily="34" charset="-122"/>
                <a:cs typeface="Arial" panose="020B0604020202020204" pitchFamily="34" charset="0"/>
              </a:rPr>
              <a:t>CLIENT</a:t>
            </a:r>
            <a:endParaRPr lang="en-US" sz="1000" dirty="0"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2768900"/>
            <a:ext cx="726282" cy="165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000" b="1" kern="0" spc="188" dirty="0">
                <a:solidFill>
                  <a:srgbClr val="8A8E98"/>
                </a:solidFill>
                <a:ea typeface="Helvetica" pitchFamily="34" charset="-122"/>
                <a:cs typeface="Arial" panose="020B0604020202020204" pitchFamily="34" charset="0"/>
              </a:rPr>
              <a:t>SERVER</a:t>
            </a:r>
            <a:endParaRPr lang="en-US" sz="1000" dirty="0"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23849" y="4972068"/>
            <a:ext cx="1076325" cy="165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000" b="1" kern="0" spc="188" dirty="0">
                <a:solidFill>
                  <a:srgbClr val="8A8E98"/>
                </a:solidFill>
                <a:ea typeface="Helvetica" pitchFamily="34" charset="-122"/>
                <a:cs typeface="Arial" panose="020B0604020202020204" pitchFamily="34" charset="0"/>
              </a:rPr>
              <a:t>RESOURCES</a:t>
            </a:r>
            <a:endParaRPr lang="en-US" sz="1000" dirty="0">
              <a:cs typeface="Arial" panose="020B0604020202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91000" y="195421"/>
            <a:ext cx="3429000" cy="819150"/>
          </a:xfrm>
          <a:prstGeom prst="roundRect">
            <a:avLst>
              <a:gd name="adj" fmla="val 16279"/>
            </a:avLst>
          </a:prstGeom>
          <a:solidFill>
            <a:schemeClr val="bg1"/>
          </a:solidFill>
          <a:ln w="10636">
            <a:solidFill>
              <a:srgbClr val="5B6172"/>
            </a:solidFill>
            <a:prstDash val="solid"/>
          </a:ln>
        </p:spPr>
        <p:txBody>
          <a:bodyPr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056029" y="385445"/>
            <a:ext cx="1698943" cy="2720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2A2D35"/>
                </a:solidFill>
                <a:ea typeface="Helvetica" pitchFamily="34" charset="-122"/>
                <a:cs typeface="Arial" panose="020B0604020202020204" pitchFamily="34" charset="0"/>
              </a:rPr>
              <a:t>MCP client (LLM)</a:t>
            </a:r>
            <a:endParaRPr lang="en-US" sz="1575" dirty="0">
              <a:cs typeface="Arial" panose="020B06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4704397" y="686117"/>
            <a:ext cx="2402205" cy="176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7A7E89"/>
                </a:solidFill>
                <a:ea typeface="Courier New" pitchFamily="34" charset="-122"/>
                <a:cs typeface="Arial" panose="020B0604020202020204" pitchFamily="34" charset="0"/>
              </a:rPr>
              <a:t>MCP-capable host · orchestrates tools</a:t>
            </a:r>
            <a:endParaRPr lang="en-US" sz="900" dirty="0">
              <a:cs typeface="Arial" panose="020B060402020202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549397" y="1643221"/>
            <a:ext cx="7957099" cy="2495550"/>
          </a:xfrm>
          <a:prstGeom prst="roundRect">
            <a:avLst>
              <a:gd name="adj" fmla="val 6107"/>
            </a:avLst>
          </a:prstGeom>
          <a:solidFill>
            <a:schemeClr val="bg1"/>
          </a:solidFill>
          <a:ln w="10636">
            <a:solidFill>
              <a:srgbClr val="B9BCC4"/>
            </a:solidFill>
            <a:prstDash val="solid"/>
          </a:ln>
        </p:spPr>
        <p:txBody>
          <a:bodyPr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485781" y="1826788"/>
            <a:ext cx="2198052" cy="24018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4272F"/>
                </a:solidFill>
                <a:ea typeface="Helvetica" pitchFamily="34" charset="-122"/>
                <a:cs typeface="Arial" panose="020B0604020202020204" pitchFamily="34" charset="0"/>
              </a:rPr>
              <a:t>MCP-over-SPARQL server</a:t>
            </a:r>
            <a:endParaRPr lang="en-US" sz="1350" dirty="0">
              <a:cs typeface="Arial" panose="020B06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75386" y="2367121"/>
            <a:ext cx="1371600" cy="1428750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0636">
            <a:solidFill>
              <a:srgbClr val="9CC0EE"/>
            </a:solidFill>
            <a:prstDash val="solid"/>
          </a:ln>
        </p:spPr>
        <p:txBody>
          <a:bodyPr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822747" y="2670538"/>
            <a:ext cx="1301479" cy="5742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B3340"/>
                </a:solidFill>
                <a:ea typeface="Helvetica" pitchFamily="34" charset="-122"/>
                <a:cs typeface="Arial" panose="020B0604020202020204" pitchFamily="34" charset="0"/>
              </a:rPr>
              <a:t>Schema Overview</a:t>
            </a:r>
            <a:endParaRPr lang="en-US" sz="1300" dirty="0"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829474" y="3146083"/>
            <a:ext cx="1259251" cy="3209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a typeface="Courier New" pitchFamily="34" charset="-122"/>
                <a:cs typeface="Arial" panose="020B0604020202020204" pitchFamily="34" charset="0"/>
              </a:rPr>
              <a:t>High-level graph synthesis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cs typeface="Arial" panose="020B060402020202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3322874" y="2364724"/>
            <a:ext cx="1371600" cy="1428750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0636">
            <a:solidFill>
              <a:srgbClr val="9CC0EE"/>
            </a:solidFill>
            <a:prstDash val="solid"/>
          </a:ln>
        </p:spPr>
        <p:txBody>
          <a:bodyPr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393590" y="2560266"/>
            <a:ext cx="1242107" cy="6034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B3340"/>
                </a:solidFill>
                <a:ea typeface="Helvetica" pitchFamily="34" charset="-122"/>
                <a:cs typeface="Arial" panose="020B0604020202020204" pitchFamily="34" charset="0"/>
              </a:rPr>
              <a:t>Discover</a:t>
            </a: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300" b="1" dirty="0" err="1">
                <a:solidFill>
                  <a:srgbClr val="2B3340"/>
                </a:solidFill>
                <a:ea typeface="Helvetica" pitchFamily="34" charset="-122"/>
                <a:cs typeface="Arial" panose="020B0604020202020204" pitchFamily="34" charset="0"/>
              </a:rPr>
              <a:t>Nodeshapes</a:t>
            </a:r>
            <a:endParaRPr lang="en-US" sz="1300" b="1" dirty="0">
              <a:solidFill>
                <a:srgbClr val="2B3340"/>
              </a:solidFill>
              <a:ea typeface="Helvetica" pitchFamily="34" charset="-122"/>
              <a:cs typeface="Arial" panose="020B060402020202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459441" y="3134502"/>
            <a:ext cx="1131413" cy="418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900" dirty="0">
                <a:solidFill>
                  <a:srgbClr val="6F7682"/>
                </a:solidFill>
                <a:ea typeface="Courier New" pitchFamily="34" charset="-122"/>
                <a:cs typeface="Arial" panose="020B0604020202020204" pitchFamily="34" charset="0"/>
              </a:rPr>
              <a:t>Relevant SHACL shapes, in detail</a:t>
            </a:r>
            <a:endParaRPr lang="en-US" sz="900" dirty="0">
              <a:cs typeface="Arial" panose="020B0604020202020204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845048" y="2367121"/>
            <a:ext cx="1371600" cy="1428750"/>
          </a:xfrm>
          <a:prstGeom prst="roundRect">
            <a:avLst>
              <a:gd name="adj" fmla="val 8333"/>
            </a:avLst>
          </a:prstGeom>
          <a:solidFill>
            <a:srgbClr val="F7F7F9"/>
          </a:solidFill>
          <a:ln w="10636">
            <a:solidFill>
              <a:srgbClr val="D9DBE0"/>
            </a:solidFill>
            <a:prstDash val="solid"/>
          </a:ln>
        </p:spPr>
        <p:txBody>
          <a:bodyPr/>
          <a:lstStyle/>
          <a:p>
            <a:endParaRPr lang="en-US" dirty="0"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806296" y="2649400"/>
            <a:ext cx="1428404" cy="5254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fr-FR" sz="1300" b="1" dirty="0">
                <a:solidFill>
                  <a:srgbClr val="2B3340"/>
                </a:solidFill>
                <a:cs typeface="Arial" panose="020B0604020202020204" pitchFamily="34" charset="0"/>
              </a:rPr>
              <a:t>G</a:t>
            </a:r>
            <a:r>
              <a:rPr lang="en-US" sz="1300" b="1" dirty="0">
                <a:solidFill>
                  <a:srgbClr val="2B3340"/>
                </a:solidFill>
                <a:cs typeface="Arial" panose="020B0604020202020204" pitchFamily="34" charset="0"/>
              </a:rPr>
              <a:t>et Few Shots</a:t>
            </a:r>
          </a:p>
        </p:txBody>
      </p:sp>
      <p:sp>
        <p:nvSpPr>
          <p:cNvPr id="22" name="Text 20"/>
          <p:cNvSpPr/>
          <p:nvPr/>
        </p:nvSpPr>
        <p:spPr>
          <a:xfrm>
            <a:off x="5017962" y="3015529"/>
            <a:ext cx="983379" cy="4271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900" dirty="0">
                <a:solidFill>
                  <a:srgbClr val="6F7682"/>
                </a:solidFill>
                <a:ea typeface="Courier New" pitchFamily="34" charset="-122"/>
                <a:cs typeface="Arial" panose="020B0604020202020204" pitchFamily="34" charset="0"/>
              </a:rPr>
              <a:t>Validated query patterns</a:t>
            </a:r>
            <a:endParaRPr lang="en-US" sz="900" dirty="0">
              <a:cs typeface="Arial" panose="020B0604020202020204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378573" y="2367121"/>
            <a:ext cx="1371600" cy="1428750"/>
          </a:xfrm>
          <a:prstGeom prst="roundRect">
            <a:avLst>
              <a:gd name="adj" fmla="val 8333"/>
            </a:avLst>
          </a:prstGeom>
          <a:solidFill>
            <a:srgbClr val="E8F6EE"/>
          </a:solidFill>
          <a:ln w="10636">
            <a:solidFill>
              <a:srgbClr val="93CFA9"/>
            </a:solidFill>
            <a:prstDash val="solid"/>
          </a:ln>
        </p:spPr>
        <p:txBody>
          <a:bodyPr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420762" y="2541108"/>
            <a:ext cx="1262122" cy="5157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B3340"/>
                </a:solidFill>
                <a:ea typeface="Helvetica" pitchFamily="34" charset="-122"/>
                <a:cs typeface="Arial" panose="020B0604020202020204" pitchFamily="34" charset="0"/>
              </a:rPr>
              <a:t>Reconcile </a:t>
            </a: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B3340"/>
                </a:solidFill>
                <a:cs typeface="Arial" panose="020B0604020202020204" pitchFamily="34" charset="0"/>
              </a:rPr>
              <a:t>Entities</a:t>
            </a:r>
            <a:endParaRPr lang="en-US" sz="1300" dirty="0">
              <a:cs typeface="Arial" panose="020B0604020202020204" pitchFamily="3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575430" y="3113704"/>
            <a:ext cx="959288" cy="3993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900" dirty="0">
                <a:solidFill>
                  <a:srgbClr val="6F7682"/>
                </a:solidFill>
                <a:ea typeface="Courier New" pitchFamily="34" charset="-122"/>
                <a:cs typeface="Arial" panose="020B0604020202020204" pitchFamily="34" charset="0"/>
              </a:rPr>
              <a:t>Labels to stable IRIs</a:t>
            </a:r>
            <a:endParaRPr lang="en-US" sz="900" dirty="0">
              <a:cs typeface="Arial" panose="020B0604020202020204" pitchFamily="3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9749978" y="2334721"/>
            <a:ext cx="1371600" cy="1428750"/>
          </a:xfrm>
          <a:prstGeom prst="roundRect">
            <a:avLst>
              <a:gd name="adj" fmla="val 8333"/>
            </a:avLst>
          </a:prstGeom>
          <a:solidFill>
            <a:srgbClr val="F7F7F9"/>
          </a:solidFill>
          <a:ln w="10636">
            <a:solidFill>
              <a:srgbClr val="D9DBE0"/>
            </a:solidFill>
            <a:prstDash val="solid"/>
          </a:ln>
        </p:spPr>
        <p:txBody>
          <a:bodyPr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9922916" y="2619592"/>
            <a:ext cx="106930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B3340"/>
                </a:solidFill>
                <a:ea typeface="Helvetica" pitchFamily="34" charset="-122"/>
                <a:cs typeface="Arial" panose="020B0604020202020204" pitchFamily="34" charset="0"/>
              </a:rPr>
              <a:t>healthcheck</a:t>
            </a:r>
            <a:endParaRPr lang="en-US" sz="1300" dirty="0">
              <a:cs typeface="Arial" panose="020B0604020202020204" pitchFamily="3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936375" y="3014407"/>
            <a:ext cx="1055846" cy="3209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900" dirty="0">
                <a:solidFill>
                  <a:srgbClr val="6F7682"/>
                </a:solidFill>
                <a:ea typeface="Courier New" pitchFamily="34" charset="-122"/>
                <a:cs typeface="Arial" panose="020B0604020202020204" pitchFamily="34" charset="0"/>
              </a:rPr>
              <a:t>Status &amp; endpoint reachability</a:t>
            </a:r>
            <a:endParaRPr lang="en-US" sz="900" dirty="0">
              <a:cs typeface="Arial" panose="020B0604020202020204" pitchFamily="34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7902414" y="2334721"/>
            <a:ext cx="1371600" cy="1428750"/>
          </a:xfrm>
          <a:prstGeom prst="roundRect">
            <a:avLst>
              <a:gd name="adj" fmla="val 8333"/>
            </a:avLst>
          </a:prstGeom>
          <a:solidFill>
            <a:srgbClr val="FDF1E3"/>
          </a:solidFill>
          <a:ln w="10636">
            <a:solidFill>
              <a:srgbClr val="ECC188"/>
            </a:solidFill>
            <a:prstDash val="solid"/>
          </a:ln>
        </p:spPr>
        <p:txBody>
          <a:bodyPr/>
          <a:lstStyle/>
          <a:p>
            <a:endParaRPr lang="en-US" dirty="0">
              <a:cs typeface="Arial" panose="020B0604020202020204" pitchFamily="3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034954" y="2670538"/>
            <a:ext cx="1106519" cy="4772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fr-FR" sz="1300" b="1" dirty="0">
                <a:solidFill>
                  <a:srgbClr val="2B3340"/>
                </a:solidFill>
                <a:cs typeface="Arial" panose="020B0604020202020204" pitchFamily="34" charset="0"/>
              </a:rPr>
              <a:t>Q</a:t>
            </a:r>
            <a:r>
              <a:rPr lang="en-US" sz="1300" b="1" dirty="0" err="1">
                <a:solidFill>
                  <a:srgbClr val="2B3340"/>
                </a:solidFill>
                <a:cs typeface="Arial" panose="020B0604020202020204" pitchFamily="34" charset="0"/>
              </a:rPr>
              <a:t>uery</a:t>
            </a:r>
            <a:r>
              <a:rPr lang="en-US" sz="1300" b="1" dirty="0">
                <a:solidFill>
                  <a:srgbClr val="2B3340"/>
                </a:solidFill>
                <a:cs typeface="Arial" panose="020B0604020202020204" pitchFamily="34" charset="0"/>
              </a:rPr>
              <a:t> </a:t>
            </a:r>
            <a:r>
              <a:rPr lang="en-US" sz="1300" b="1" dirty="0" err="1">
                <a:solidFill>
                  <a:srgbClr val="2B3340"/>
                </a:solidFill>
                <a:cs typeface="Arial" panose="020B0604020202020204" pitchFamily="34" charset="0"/>
              </a:rPr>
              <a:t>Sparql</a:t>
            </a:r>
            <a:endParaRPr lang="en-US" sz="1300" dirty="0">
              <a:cs typeface="Arial" panose="020B0604020202020204" pitchFamily="34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127680" y="3097781"/>
            <a:ext cx="936983" cy="4086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900" dirty="0">
                <a:solidFill>
                  <a:srgbClr val="6F7682"/>
                </a:solidFill>
                <a:ea typeface="Courier New" pitchFamily="34" charset="-122"/>
                <a:cs typeface="Arial" panose="020B0604020202020204" pitchFamily="34" charset="0"/>
              </a:rPr>
              <a:t>Runs the final query</a:t>
            </a:r>
            <a:endParaRPr lang="en-US" sz="900" dirty="0">
              <a:cs typeface="Arial" panose="020B0604020202020204" pitchFamily="34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1816966" y="4605489"/>
            <a:ext cx="2667000" cy="1028700"/>
          </a:xfrm>
          <a:prstGeom prst="roundRect">
            <a:avLst>
              <a:gd name="adj" fmla="val 12963"/>
            </a:avLst>
          </a:prstGeom>
          <a:solidFill>
            <a:srgbClr val="EAF1FB"/>
          </a:solidFill>
          <a:ln w="10636">
            <a:solidFill>
              <a:srgbClr val="9CC0EE"/>
            </a:solidFill>
            <a:prstDash val="solid"/>
          </a:ln>
        </p:spPr>
        <p:txBody>
          <a:bodyPr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2284643" y="4908860"/>
            <a:ext cx="1731486" cy="2295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24272F"/>
                </a:solidFill>
                <a:ea typeface="Helvetica" pitchFamily="34" charset="-122"/>
                <a:cs typeface="Arial" panose="020B0604020202020204" pitchFamily="34" charset="0"/>
              </a:rPr>
              <a:t>SHACL shapes graph</a:t>
            </a:r>
            <a:endParaRPr lang="en-US" sz="1275" dirty="0">
              <a:cs typeface="Arial" panose="020B0604020202020204" pitchFamily="34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2578013" y="5176513"/>
            <a:ext cx="1144905" cy="1924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900" dirty="0">
                <a:solidFill>
                  <a:srgbClr val="6F7682"/>
                </a:solidFill>
                <a:ea typeface="Courier New" pitchFamily="34" charset="-122"/>
                <a:cs typeface="Arial" panose="020B0604020202020204" pitchFamily="34" charset="0"/>
              </a:rPr>
              <a:t>Target data model</a:t>
            </a:r>
            <a:endParaRPr lang="en-US" sz="900" dirty="0">
              <a:cs typeface="Arial" panose="020B0604020202020204" pitchFamily="34" charset="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594240" y="4623453"/>
            <a:ext cx="2328863" cy="1028700"/>
          </a:xfrm>
          <a:prstGeom prst="roundRect">
            <a:avLst>
              <a:gd name="adj" fmla="val 12963"/>
            </a:avLst>
          </a:prstGeom>
          <a:solidFill>
            <a:srgbClr val="E8F6EE"/>
          </a:solidFill>
          <a:ln w="10636">
            <a:solidFill>
              <a:srgbClr val="93CFA9"/>
            </a:solidFill>
            <a:prstDash val="solid"/>
          </a:ln>
        </p:spPr>
        <p:txBody>
          <a:bodyPr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4900758" y="4927745"/>
            <a:ext cx="1785461" cy="2295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24272F"/>
                </a:solidFill>
                <a:ea typeface="Helvetica" pitchFamily="34" charset="-122"/>
                <a:cs typeface="Arial" panose="020B0604020202020204" pitchFamily="34" charset="0"/>
              </a:rPr>
              <a:t>Reconciliation service</a:t>
            </a:r>
            <a:endParaRPr lang="en-US" sz="1275" dirty="0">
              <a:cs typeface="Arial" panose="020B0604020202020204" pitchFamily="34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5097925" y="5175078"/>
            <a:ext cx="1333500" cy="1924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900" dirty="0">
                <a:solidFill>
                  <a:srgbClr val="6F7682"/>
                </a:solidFill>
                <a:ea typeface="Courier New" pitchFamily="34" charset="-122"/>
                <a:cs typeface="Arial" panose="020B0604020202020204" pitchFamily="34" charset="0"/>
              </a:rPr>
              <a:t>W3C / OpenRefine API</a:t>
            </a:r>
            <a:endParaRPr lang="en-US" sz="900" dirty="0">
              <a:cs typeface="Arial" panose="020B0604020202020204" pitchFamily="34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8122516" y="4624063"/>
            <a:ext cx="2667000" cy="1028700"/>
          </a:xfrm>
          <a:prstGeom prst="roundRect">
            <a:avLst>
              <a:gd name="adj" fmla="val 12963"/>
            </a:avLst>
          </a:prstGeom>
          <a:solidFill>
            <a:srgbClr val="FDF1E3"/>
          </a:solidFill>
          <a:ln w="10636">
            <a:solidFill>
              <a:srgbClr val="ECC188"/>
            </a:solidFill>
            <a:prstDash val="solid"/>
          </a:ln>
        </p:spPr>
        <p:txBody>
          <a:bodyPr/>
          <a:lstStyle/>
          <a:p>
            <a:endParaRPr lang="en-US" dirty="0">
              <a:cs typeface="Arial" panose="020B0604020202020204" pitchFamily="34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8722274" y="4927434"/>
            <a:ext cx="1467326" cy="2295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24272F"/>
                </a:solidFill>
                <a:ea typeface="Helvetica" pitchFamily="34" charset="-122"/>
                <a:cs typeface="Arial" panose="020B0604020202020204" pitchFamily="34" charset="0"/>
              </a:rPr>
              <a:t>SPARQL endpoint</a:t>
            </a:r>
            <a:endParaRPr lang="en-US" sz="1275" dirty="0">
              <a:cs typeface="Arial" panose="020B0604020202020204" pitchFamily="34" charset="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8946429" y="5195087"/>
            <a:ext cx="1019175" cy="1924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900" dirty="0">
                <a:solidFill>
                  <a:srgbClr val="6F7682"/>
                </a:solidFill>
                <a:ea typeface="Courier New" pitchFamily="34" charset="-122"/>
                <a:cs typeface="Arial" panose="020B0604020202020204" pitchFamily="34" charset="0"/>
              </a:rPr>
              <a:t>Knowledge graph</a:t>
            </a:r>
            <a:endParaRPr lang="en-US" sz="900" dirty="0">
              <a:cs typeface="Arial" panose="020B0604020202020204" pitchFamily="34" charset="0"/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C8A4649-1ECB-97C5-F7CB-D9E24610056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5905499" y="1014571"/>
            <a:ext cx="1" cy="609052"/>
          </a:xfrm>
          <a:prstGeom prst="straightConnector1">
            <a:avLst/>
          </a:prstGeom>
          <a:ln>
            <a:solidFill>
              <a:schemeClr val="bg2">
                <a:lumMod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2DABBAA5-9865-A273-4C4E-406D68D3842D}"/>
              </a:ext>
            </a:extLst>
          </p:cNvPr>
          <p:cNvCxnSpPr>
            <a:cxnSpLocks/>
            <a:stCxn id="11" idx="2"/>
            <a:endCxn id="35" idx="0"/>
          </p:cNvCxnSpPr>
          <p:nvPr/>
        </p:nvCxnSpPr>
        <p:spPr>
          <a:xfrm>
            <a:off x="2461186" y="3795871"/>
            <a:ext cx="689280" cy="8096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44A91CE4-AD3E-A631-A807-7F5E9ED6F6B7}"/>
              </a:ext>
            </a:extLst>
          </p:cNvPr>
          <p:cNvCxnSpPr>
            <a:cxnSpLocks/>
            <a:stCxn id="15" idx="2"/>
            <a:endCxn id="35" idx="0"/>
          </p:cNvCxnSpPr>
          <p:nvPr/>
        </p:nvCxnSpPr>
        <p:spPr>
          <a:xfrm flipH="1">
            <a:off x="3150466" y="3793474"/>
            <a:ext cx="858208" cy="8120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5FFEF7-E556-2457-B7E9-838486CC4574}"/>
              </a:ext>
            </a:extLst>
          </p:cNvPr>
          <p:cNvCxnSpPr>
            <a:cxnSpLocks/>
            <a:stCxn id="23" idx="2"/>
            <a:endCxn id="38" idx="0"/>
          </p:cNvCxnSpPr>
          <p:nvPr/>
        </p:nvCxnSpPr>
        <p:spPr>
          <a:xfrm flipH="1">
            <a:off x="5758672" y="3795871"/>
            <a:ext cx="1305701" cy="82758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CA5EEC95-FE8A-631A-B372-4E98FA131AC2}"/>
              </a:ext>
            </a:extLst>
          </p:cNvPr>
          <p:cNvCxnSpPr>
            <a:cxnSpLocks/>
            <a:stCxn id="31" idx="2"/>
            <a:endCxn id="41" idx="0"/>
          </p:cNvCxnSpPr>
          <p:nvPr/>
        </p:nvCxnSpPr>
        <p:spPr>
          <a:xfrm>
            <a:off x="8588214" y="3763471"/>
            <a:ext cx="867802" cy="860592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A4EFAC8B-2AC9-E593-9AB1-C2EDE03C8194}"/>
              </a:ext>
            </a:extLst>
          </p:cNvPr>
          <p:cNvSpPr txBox="1"/>
          <p:nvPr/>
        </p:nvSpPr>
        <p:spPr>
          <a:xfrm>
            <a:off x="5949520" y="1058720"/>
            <a:ext cx="13402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MCP transport</a:t>
            </a:r>
          </a:p>
          <a:p>
            <a:r>
              <a:rPr lang="en-US" sz="12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Stdio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| HTTP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533777F-7806-5751-F038-C809152A2A48}"/>
              </a:ext>
            </a:extLst>
          </p:cNvPr>
          <p:cNvSpPr txBox="1"/>
          <p:nvPr/>
        </p:nvSpPr>
        <p:spPr>
          <a:xfrm>
            <a:off x="2736957" y="4033035"/>
            <a:ext cx="9289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Read model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8B2D088-023D-43D4-32EF-DD351DCCE7D4}"/>
              </a:ext>
            </a:extLst>
          </p:cNvPr>
          <p:cNvSpPr txBox="1"/>
          <p:nvPr/>
        </p:nvSpPr>
        <p:spPr>
          <a:xfrm>
            <a:off x="6323417" y="4165878"/>
            <a:ext cx="7818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Reconcile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2A70DEF-44B9-739A-39E1-E7ACCE6BDE97}"/>
              </a:ext>
            </a:extLst>
          </p:cNvPr>
          <p:cNvSpPr txBox="1"/>
          <p:nvPr/>
        </p:nvSpPr>
        <p:spPr>
          <a:xfrm>
            <a:off x="9119673" y="4142054"/>
            <a:ext cx="6726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Execute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9680875-DA33-054E-F670-4DE0EAB107DD}"/>
              </a:ext>
            </a:extLst>
          </p:cNvPr>
          <p:cNvCxnSpPr>
            <a:cxnSpLocks/>
            <a:stCxn id="38" idx="3"/>
            <a:endCxn id="41" idx="1"/>
          </p:cNvCxnSpPr>
          <p:nvPr/>
        </p:nvCxnSpPr>
        <p:spPr>
          <a:xfrm>
            <a:off x="6923103" y="5137803"/>
            <a:ext cx="1199413" cy="610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00D4E27E-2F3C-703E-94F9-C449484F5F93}"/>
              </a:ext>
            </a:extLst>
          </p:cNvPr>
          <p:cNvCxnSpPr>
            <a:endCxn id="41" idx="1"/>
          </p:cNvCxnSpPr>
          <p:nvPr/>
        </p:nvCxnSpPr>
        <p:spPr>
          <a:xfrm>
            <a:off x="8001000" y="5137803"/>
            <a:ext cx="121516" cy="610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9" name="Shape 36">
            <a:extLst>
              <a:ext uri="{FF2B5EF4-FFF2-40B4-BE49-F238E27FC236}">
                <a16:creationId xmlns:a16="http://schemas.microsoft.com/office/drawing/2014/main" id="{0DC169B5-0C9A-3086-224D-27B0607BA3A5}"/>
              </a:ext>
            </a:extLst>
          </p:cNvPr>
          <p:cNvSpPr/>
          <p:nvPr/>
        </p:nvSpPr>
        <p:spPr>
          <a:xfrm>
            <a:off x="4059272" y="6170365"/>
            <a:ext cx="1827007" cy="617574"/>
          </a:xfrm>
          <a:prstGeom prst="roundRect">
            <a:avLst>
              <a:gd name="adj" fmla="val 12963"/>
            </a:avLst>
          </a:prstGeom>
          <a:solidFill>
            <a:srgbClr val="E8F6EE"/>
          </a:solidFill>
          <a:ln w="10636">
            <a:solidFill>
              <a:srgbClr val="93CFA9"/>
            </a:solidFill>
            <a:prstDash val="solid"/>
          </a:ln>
        </p:spPr>
        <p:txBody>
          <a:bodyPr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60" name="Shape 36">
            <a:extLst>
              <a:ext uri="{FF2B5EF4-FFF2-40B4-BE49-F238E27FC236}">
                <a16:creationId xmlns:a16="http://schemas.microsoft.com/office/drawing/2014/main" id="{8142FB38-32C6-B619-15E3-BBE862F229F0}"/>
              </a:ext>
            </a:extLst>
          </p:cNvPr>
          <p:cNvSpPr/>
          <p:nvPr/>
        </p:nvSpPr>
        <p:spPr>
          <a:xfrm>
            <a:off x="6150869" y="6165893"/>
            <a:ext cx="1827007" cy="617574"/>
          </a:xfrm>
          <a:prstGeom prst="roundRect">
            <a:avLst>
              <a:gd name="adj" fmla="val 12963"/>
            </a:avLst>
          </a:prstGeom>
          <a:solidFill>
            <a:srgbClr val="E8F6EE"/>
          </a:solidFill>
          <a:ln w="10636">
            <a:solidFill>
              <a:srgbClr val="93CFA9"/>
            </a:solidFill>
            <a:prstDash val="solid"/>
          </a:ln>
        </p:spPr>
        <p:txBody>
          <a:bodyPr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62" name="Shape 36">
            <a:extLst>
              <a:ext uri="{FF2B5EF4-FFF2-40B4-BE49-F238E27FC236}">
                <a16:creationId xmlns:a16="http://schemas.microsoft.com/office/drawing/2014/main" id="{CADF01C9-E754-70C0-80E5-1887727DE316}"/>
              </a:ext>
            </a:extLst>
          </p:cNvPr>
          <p:cNvSpPr/>
          <p:nvPr/>
        </p:nvSpPr>
        <p:spPr>
          <a:xfrm>
            <a:off x="8249362" y="6153225"/>
            <a:ext cx="1827007" cy="617574"/>
          </a:xfrm>
          <a:prstGeom prst="roundRect">
            <a:avLst>
              <a:gd name="adj" fmla="val 12963"/>
            </a:avLst>
          </a:prstGeom>
          <a:solidFill>
            <a:srgbClr val="E8F6EE"/>
          </a:solidFill>
          <a:ln w="10636">
            <a:solidFill>
              <a:srgbClr val="93CFA9"/>
            </a:solidFill>
            <a:prstDash val="solid"/>
          </a:ln>
        </p:spPr>
        <p:txBody>
          <a:bodyPr/>
          <a:lstStyle/>
          <a:p>
            <a:endParaRPr lang="en-US" dirty="0">
              <a:cs typeface="Arial" panose="020B0604020202020204" pitchFamily="34" charset="0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A2731E5-2589-EC66-5371-ACFCCD890244}"/>
              </a:ext>
            </a:extLst>
          </p:cNvPr>
          <p:cNvCxnSpPr>
            <a:cxnSpLocks/>
            <a:stCxn id="38" idx="2"/>
            <a:endCxn id="59" idx="0"/>
          </p:cNvCxnSpPr>
          <p:nvPr/>
        </p:nvCxnSpPr>
        <p:spPr>
          <a:xfrm flipH="1">
            <a:off x="4972776" y="5652153"/>
            <a:ext cx="785896" cy="518212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1EF47908-F768-2C8C-4EF0-0ADDE0BAE9C6}"/>
              </a:ext>
            </a:extLst>
          </p:cNvPr>
          <p:cNvCxnSpPr>
            <a:cxnSpLocks/>
            <a:stCxn id="38" idx="2"/>
            <a:endCxn id="60" idx="0"/>
          </p:cNvCxnSpPr>
          <p:nvPr/>
        </p:nvCxnSpPr>
        <p:spPr>
          <a:xfrm>
            <a:off x="5758672" y="5652153"/>
            <a:ext cx="1305701" cy="513740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5090CB12-40CC-1A7B-5A10-F14220A5E4DD}"/>
              </a:ext>
            </a:extLst>
          </p:cNvPr>
          <p:cNvCxnSpPr>
            <a:cxnSpLocks/>
            <a:stCxn id="38" idx="2"/>
            <a:endCxn id="62" idx="0"/>
          </p:cNvCxnSpPr>
          <p:nvPr/>
        </p:nvCxnSpPr>
        <p:spPr>
          <a:xfrm>
            <a:off x="5758672" y="5652153"/>
            <a:ext cx="3404194" cy="501072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7445AF9E-8CC6-9289-6492-BAF6C1933A50}"/>
              </a:ext>
            </a:extLst>
          </p:cNvPr>
          <p:cNvCxnSpPr>
            <a:cxnSpLocks/>
          </p:cNvCxnSpPr>
          <p:nvPr/>
        </p:nvCxnSpPr>
        <p:spPr>
          <a:xfrm>
            <a:off x="6983718" y="6133220"/>
            <a:ext cx="121516" cy="51612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0AD01237-CE18-7763-E2D0-8D16A2EA458C}"/>
              </a:ext>
            </a:extLst>
          </p:cNvPr>
          <p:cNvCxnSpPr>
            <a:cxnSpLocks/>
            <a:stCxn id="62" idx="0"/>
          </p:cNvCxnSpPr>
          <p:nvPr/>
        </p:nvCxnSpPr>
        <p:spPr>
          <a:xfrm>
            <a:off x="9162866" y="6153225"/>
            <a:ext cx="38772" cy="11373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549304F9-295C-6EFA-767A-8C6062613CD2}"/>
              </a:ext>
            </a:extLst>
          </p:cNvPr>
          <p:cNvCxnSpPr>
            <a:cxnSpLocks/>
          </p:cNvCxnSpPr>
          <p:nvPr/>
        </p:nvCxnSpPr>
        <p:spPr>
          <a:xfrm flipH="1">
            <a:off x="4966999" y="6122508"/>
            <a:ext cx="83253" cy="52906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7" name="Text 37">
            <a:extLst>
              <a:ext uri="{FF2B5EF4-FFF2-40B4-BE49-F238E27FC236}">
                <a16:creationId xmlns:a16="http://schemas.microsoft.com/office/drawing/2014/main" id="{A6C9880E-7B27-EB32-47E2-08B882CC9ADE}"/>
              </a:ext>
            </a:extLst>
          </p:cNvPr>
          <p:cNvSpPr/>
          <p:nvPr/>
        </p:nvSpPr>
        <p:spPr>
          <a:xfrm>
            <a:off x="6172456" y="6353547"/>
            <a:ext cx="1785461" cy="2295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algn="ctr"/>
            <a:r>
              <a:rPr lang="en-US" sz="1200" b="1" dirty="0"/>
              <a:t>existing API</a:t>
            </a:r>
          </a:p>
        </p:txBody>
      </p:sp>
      <p:sp>
        <p:nvSpPr>
          <p:cNvPr id="88" name="Text 37">
            <a:extLst>
              <a:ext uri="{FF2B5EF4-FFF2-40B4-BE49-F238E27FC236}">
                <a16:creationId xmlns:a16="http://schemas.microsoft.com/office/drawing/2014/main" id="{085A3915-B661-B34D-2C10-DF8AB9EB09D7}"/>
              </a:ext>
            </a:extLst>
          </p:cNvPr>
          <p:cNvSpPr/>
          <p:nvPr/>
        </p:nvSpPr>
        <p:spPr>
          <a:xfrm>
            <a:off x="8242466" y="6256032"/>
            <a:ext cx="1785461" cy="2295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algn="ctr"/>
            <a:r>
              <a:rPr lang="en-US" sz="1200" b="1" dirty="0"/>
              <a:t>custom-built</a:t>
            </a:r>
          </a:p>
          <a:p>
            <a:pPr algn="ctr"/>
            <a:r>
              <a:rPr lang="en-US" sz="1200" b="1" dirty="0"/>
              <a:t>Search Index</a:t>
            </a:r>
          </a:p>
        </p:txBody>
      </p:sp>
      <p:sp>
        <p:nvSpPr>
          <p:cNvPr id="89" name="Text 37">
            <a:extLst>
              <a:ext uri="{FF2B5EF4-FFF2-40B4-BE49-F238E27FC236}">
                <a16:creationId xmlns:a16="http://schemas.microsoft.com/office/drawing/2014/main" id="{64DC2103-234E-9118-857F-E6BC5BDD366F}"/>
              </a:ext>
            </a:extLst>
          </p:cNvPr>
          <p:cNvSpPr/>
          <p:nvPr/>
        </p:nvSpPr>
        <p:spPr>
          <a:xfrm>
            <a:off x="4093922" y="6280796"/>
            <a:ext cx="1785461" cy="2295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algn="ctr"/>
            <a:r>
              <a:rPr lang="en-US" sz="1200" b="1" dirty="0"/>
              <a:t>full-text indexing</a:t>
            </a:r>
          </a:p>
          <a:p>
            <a:pPr marL="0" indent="0" algn="ctr">
              <a:buNone/>
            </a:pPr>
            <a:endParaRPr lang="en-US" sz="1200" b="1" dirty="0"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6BA82-EE9F-151C-BD68-71743D1D908F}"/>
              </a:ext>
            </a:extLst>
          </p:cNvPr>
          <p:cNvSpPr txBox="1"/>
          <p:nvPr/>
        </p:nvSpPr>
        <p:spPr>
          <a:xfrm>
            <a:off x="6923103" y="4888114"/>
            <a:ext cx="11977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SPARQL-based search</a:t>
            </a:r>
          </a:p>
        </p:txBody>
      </p:sp>
      <p:sp>
        <p:nvSpPr>
          <p:cNvPr id="32" name="Text 38">
            <a:extLst>
              <a:ext uri="{FF2B5EF4-FFF2-40B4-BE49-F238E27FC236}">
                <a16:creationId xmlns:a16="http://schemas.microsoft.com/office/drawing/2014/main" id="{C2E97AB2-766A-B6C1-617B-D599247D9EA8}"/>
              </a:ext>
            </a:extLst>
          </p:cNvPr>
          <p:cNvSpPr/>
          <p:nvPr/>
        </p:nvSpPr>
        <p:spPr>
          <a:xfrm>
            <a:off x="4306026" y="6472643"/>
            <a:ext cx="1333500" cy="1924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algn="ctr">
              <a:lnSpc>
                <a:spcPct val="135000"/>
              </a:lnSpc>
            </a:pPr>
            <a:r>
              <a:rPr lang="en-US" sz="900" dirty="0" err="1">
                <a:solidFill>
                  <a:srgbClr val="6F7682"/>
                </a:solidFill>
                <a:ea typeface="Courier New" pitchFamily="34" charset="-122"/>
                <a:cs typeface="Arial" panose="020B0604020202020204" pitchFamily="34" charset="0"/>
              </a:rPr>
              <a:t>Triplestore's</a:t>
            </a:r>
            <a:r>
              <a:rPr lang="en-US" sz="900" dirty="0">
                <a:solidFill>
                  <a:srgbClr val="6F7682"/>
                </a:solidFill>
                <a:ea typeface="Courier New" pitchFamily="34" charset="-122"/>
                <a:cs typeface="Arial" panose="020B0604020202020204" pitchFamily="34" charset="0"/>
              </a:rPr>
              <a:t> proprietary</a:t>
            </a:r>
            <a:endParaRPr lang="en-US" sz="900" dirty="0"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hape 10">
            <a:extLst>
              <a:ext uri="{FF2B5EF4-FFF2-40B4-BE49-F238E27FC236}">
                <a16:creationId xmlns:a16="http://schemas.microsoft.com/office/drawing/2014/main" id="{B5676E2E-3502-6ADE-6473-C43F3CAFCDA8}"/>
              </a:ext>
            </a:extLst>
          </p:cNvPr>
          <p:cNvSpPr/>
          <p:nvPr/>
        </p:nvSpPr>
        <p:spPr>
          <a:xfrm>
            <a:off x="1990204" y="272365"/>
            <a:ext cx="1441494" cy="428272"/>
          </a:xfrm>
          <a:prstGeom prst="roundRect">
            <a:avLst>
              <a:gd name="adj" fmla="val 12295"/>
            </a:avLst>
          </a:prstGeom>
          <a:solidFill>
            <a:srgbClr val="FFFFFF"/>
          </a:solidFill>
          <a:ln w="10636">
            <a:solidFill>
              <a:srgbClr val="9AA0C4"/>
            </a:solidFill>
            <a:prstDash val="solid"/>
          </a:ln>
          <a:effectLst>
            <a:outerShdw blurRad="19050" dist="9525" dir="5400000" algn="bl" rotWithShape="0">
              <a:srgbClr val="282846">
                <a:alpha val="8000"/>
              </a:srgbClr>
            </a:outerShdw>
          </a:effectLst>
        </p:spPr>
        <p:txBody>
          <a:bodyPr/>
          <a:lstStyle/>
          <a:p>
            <a:endParaRPr lang="en-US" sz="1200"/>
          </a:p>
        </p:txBody>
      </p:sp>
      <p:sp>
        <p:nvSpPr>
          <p:cNvPr id="62" name="Shape 1">
            <a:extLst>
              <a:ext uri="{FF2B5EF4-FFF2-40B4-BE49-F238E27FC236}">
                <a16:creationId xmlns:a16="http://schemas.microsoft.com/office/drawing/2014/main" id="{1E7CEE45-93D2-7D07-90C7-1CA35D3B061B}"/>
              </a:ext>
            </a:extLst>
          </p:cNvPr>
          <p:cNvSpPr/>
          <p:nvPr/>
        </p:nvSpPr>
        <p:spPr>
          <a:xfrm>
            <a:off x="955642" y="607031"/>
            <a:ext cx="18000" cy="5923423"/>
          </a:xfrm>
          <a:prstGeom prst="rect">
            <a:avLst/>
          </a:prstGeom>
          <a:solidFill>
            <a:srgbClr val="CFCFD8"/>
          </a:solidFill>
          <a:ln/>
        </p:spPr>
        <p:txBody>
          <a:bodyPr/>
          <a:lstStyle/>
          <a:p>
            <a:endParaRPr lang="en-US" sz="1200"/>
          </a:p>
        </p:txBody>
      </p:sp>
      <p:sp>
        <p:nvSpPr>
          <p:cNvPr id="63" name="Shape 2">
            <a:extLst>
              <a:ext uri="{FF2B5EF4-FFF2-40B4-BE49-F238E27FC236}">
                <a16:creationId xmlns:a16="http://schemas.microsoft.com/office/drawing/2014/main" id="{DACFBC36-3053-5EC2-311F-801318C2970D}"/>
              </a:ext>
            </a:extLst>
          </p:cNvPr>
          <p:cNvSpPr/>
          <p:nvPr/>
        </p:nvSpPr>
        <p:spPr>
          <a:xfrm>
            <a:off x="2690998" y="712644"/>
            <a:ext cx="18000" cy="5923423"/>
          </a:xfrm>
          <a:prstGeom prst="rect">
            <a:avLst/>
          </a:prstGeom>
          <a:solidFill>
            <a:srgbClr val="CFCFD8"/>
          </a:solidFill>
          <a:ln/>
        </p:spPr>
        <p:txBody>
          <a:bodyPr/>
          <a:lstStyle/>
          <a:p>
            <a:endParaRPr lang="en-US" sz="1600"/>
          </a:p>
        </p:txBody>
      </p:sp>
      <p:sp>
        <p:nvSpPr>
          <p:cNvPr id="64" name="Shape 3">
            <a:extLst>
              <a:ext uri="{FF2B5EF4-FFF2-40B4-BE49-F238E27FC236}">
                <a16:creationId xmlns:a16="http://schemas.microsoft.com/office/drawing/2014/main" id="{B8D12FE2-8ED2-4EC2-3B25-BF67C25B7ECE}"/>
              </a:ext>
            </a:extLst>
          </p:cNvPr>
          <p:cNvSpPr/>
          <p:nvPr/>
        </p:nvSpPr>
        <p:spPr>
          <a:xfrm>
            <a:off x="5826929" y="717097"/>
            <a:ext cx="18000" cy="5923423"/>
          </a:xfrm>
          <a:prstGeom prst="rect">
            <a:avLst/>
          </a:prstGeom>
          <a:solidFill>
            <a:srgbClr val="CFCFD8"/>
          </a:solidFill>
          <a:ln/>
        </p:spPr>
        <p:txBody>
          <a:bodyPr/>
          <a:lstStyle/>
          <a:p>
            <a:endParaRPr lang="en-US" sz="1200"/>
          </a:p>
        </p:txBody>
      </p:sp>
      <p:sp>
        <p:nvSpPr>
          <p:cNvPr id="65" name="Shape 4">
            <a:extLst>
              <a:ext uri="{FF2B5EF4-FFF2-40B4-BE49-F238E27FC236}">
                <a16:creationId xmlns:a16="http://schemas.microsoft.com/office/drawing/2014/main" id="{92876D77-0349-8FB1-4EC6-CC913B9B7AC5}"/>
              </a:ext>
            </a:extLst>
          </p:cNvPr>
          <p:cNvSpPr/>
          <p:nvPr/>
        </p:nvSpPr>
        <p:spPr>
          <a:xfrm>
            <a:off x="8426712" y="712860"/>
            <a:ext cx="18000" cy="5923423"/>
          </a:xfrm>
          <a:prstGeom prst="rect">
            <a:avLst/>
          </a:prstGeom>
          <a:solidFill>
            <a:srgbClr val="CFCFD8"/>
          </a:solidFill>
          <a:ln/>
        </p:spPr>
        <p:txBody>
          <a:bodyPr/>
          <a:lstStyle/>
          <a:p>
            <a:endParaRPr lang="en-US" sz="1200"/>
          </a:p>
        </p:txBody>
      </p:sp>
      <p:sp>
        <p:nvSpPr>
          <p:cNvPr id="66" name="Shape 5">
            <a:extLst>
              <a:ext uri="{FF2B5EF4-FFF2-40B4-BE49-F238E27FC236}">
                <a16:creationId xmlns:a16="http://schemas.microsoft.com/office/drawing/2014/main" id="{175CD33B-0D6A-06F7-4027-4F58457A242D}"/>
              </a:ext>
            </a:extLst>
          </p:cNvPr>
          <p:cNvSpPr/>
          <p:nvPr/>
        </p:nvSpPr>
        <p:spPr>
          <a:xfrm>
            <a:off x="10479172" y="607031"/>
            <a:ext cx="18000" cy="5923423"/>
          </a:xfrm>
          <a:prstGeom prst="rect">
            <a:avLst/>
          </a:prstGeom>
          <a:solidFill>
            <a:srgbClr val="CFCFD8"/>
          </a:solidFill>
          <a:ln/>
        </p:spPr>
        <p:txBody>
          <a:bodyPr/>
          <a:lstStyle/>
          <a:p>
            <a:endParaRPr lang="en-US" sz="1200"/>
          </a:p>
        </p:txBody>
      </p:sp>
      <p:pic>
        <p:nvPicPr>
          <p:cNvPr id="67" name="Image 0" descr="preencoded.png">
            <a:extLst>
              <a:ext uri="{FF2B5EF4-FFF2-40B4-BE49-F238E27FC236}">
                <a16:creationId xmlns:a16="http://schemas.microsoft.com/office/drawing/2014/main" id="{F6540102-273C-9A6C-C829-35D42B746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262" y="157215"/>
            <a:ext cx="150514" cy="205088"/>
          </a:xfrm>
          <a:prstGeom prst="rect">
            <a:avLst/>
          </a:prstGeom>
        </p:spPr>
      </p:pic>
      <p:sp>
        <p:nvSpPr>
          <p:cNvPr id="68" name="Text 6">
            <a:extLst>
              <a:ext uri="{FF2B5EF4-FFF2-40B4-BE49-F238E27FC236}">
                <a16:creationId xmlns:a16="http://schemas.microsoft.com/office/drawing/2014/main" id="{D9D63516-4D5A-9270-86FF-5FDFC4FC3A9F}"/>
              </a:ext>
            </a:extLst>
          </p:cNvPr>
          <p:cNvSpPr/>
          <p:nvPr/>
        </p:nvSpPr>
        <p:spPr>
          <a:xfrm>
            <a:off x="780498" y="380399"/>
            <a:ext cx="358154" cy="172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33333C"/>
                </a:solidFill>
                <a:ea typeface="Helvetica" pitchFamily="34" charset="-122"/>
                <a:cs typeface="Helvetica" pitchFamily="34" charset="-120"/>
              </a:rPr>
              <a:t>User</a:t>
            </a:r>
            <a:endParaRPr lang="en-US" sz="1200" dirty="0"/>
          </a:p>
        </p:txBody>
      </p:sp>
      <p:pic>
        <p:nvPicPr>
          <p:cNvPr id="69" name="Image 1" descr="preencoded.png">
            <a:extLst>
              <a:ext uri="{FF2B5EF4-FFF2-40B4-BE49-F238E27FC236}">
                <a16:creationId xmlns:a16="http://schemas.microsoft.com/office/drawing/2014/main" id="{ADE8C653-BDD9-AC70-0377-E936A1C44B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262" y="6614902"/>
            <a:ext cx="150514" cy="205088"/>
          </a:xfrm>
          <a:prstGeom prst="rect">
            <a:avLst/>
          </a:prstGeom>
        </p:spPr>
      </p:pic>
      <p:sp>
        <p:nvSpPr>
          <p:cNvPr id="70" name="Text 7">
            <a:extLst>
              <a:ext uri="{FF2B5EF4-FFF2-40B4-BE49-F238E27FC236}">
                <a16:creationId xmlns:a16="http://schemas.microsoft.com/office/drawing/2014/main" id="{8C23CB7E-0DAC-4B56-9DC0-EC3EA366AB42}"/>
              </a:ext>
            </a:extLst>
          </p:cNvPr>
          <p:cNvSpPr/>
          <p:nvPr/>
        </p:nvSpPr>
        <p:spPr>
          <a:xfrm>
            <a:off x="780498" y="6838086"/>
            <a:ext cx="358154" cy="172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33333C"/>
                </a:solidFill>
                <a:ea typeface="Helvetica" pitchFamily="34" charset="-122"/>
                <a:cs typeface="Helvetica" pitchFamily="34" charset="-120"/>
              </a:rPr>
              <a:t>User</a:t>
            </a:r>
            <a:endParaRPr lang="en-US" sz="1200" dirty="0"/>
          </a:p>
        </p:txBody>
      </p:sp>
      <p:sp>
        <p:nvSpPr>
          <p:cNvPr id="71" name="Text 9">
            <a:extLst>
              <a:ext uri="{FF2B5EF4-FFF2-40B4-BE49-F238E27FC236}">
                <a16:creationId xmlns:a16="http://schemas.microsoft.com/office/drawing/2014/main" id="{D4EEA2E7-ED99-80C3-C424-B68AC7B7DC36}"/>
              </a:ext>
            </a:extLst>
          </p:cNvPr>
          <p:cNvSpPr/>
          <p:nvPr/>
        </p:nvSpPr>
        <p:spPr>
          <a:xfrm>
            <a:off x="2101257" y="354391"/>
            <a:ext cx="1164657" cy="172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33333C"/>
                </a:solidFill>
                <a:ea typeface="Helvetica" pitchFamily="34" charset="-122"/>
                <a:cs typeface="Helvetica" pitchFamily="34" charset="-120"/>
              </a:rPr>
              <a:t>MCP client (LLM)</a:t>
            </a:r>
            <a:endParaRPr lang="en-US" sz="1200" dirty="0"/>
          </a:p>
        </p:txBody>
      </p:sp>
      <p:sp>
        <p:nvSpPr>
          <p:cNvPr id="72" name="Shape 10">
            <a:extLst>
              <a:ext uri="{FF2B5EF4-FFF2-40B4-BE49-F238E27FC236}">
                <a16:creationId xmlns:a16="http://schemas.microsoft.com/office/drawing/2014/main" id="{255E9111-868B-8A50-4915-D38FF718555A}"/>
              </a:ext>
            </a:extLst>
          </p:cNvPr>
          <p:cNvSpPr/>
          <p:nvPr/>
        </p:nvSpPr>
        <p:spPr>
          <a:xfrm>
            <a:off x="2011518" y="6639030"/>
            <a:ext cx="1441494" cy="428272"/>
          </a:xfrm>
          <a:prstGeom prst="roundRect">
            <a:avLst>
              <a:gd name="adj" fmla="val 12295"/>
            </a:avLst>
          </a:prstGeom>
          <a:solidFill>
            <a:srgbClr val="FFFFFF"/>
          </a:solidFill>
          <a:ln w="10636">
            <a:solidFill>
              <a:srgbClr val="9AA0C4"/>
            </a:solidFill>
            <a:prstDash val="solid"/>
          </a:ln>
          <a:effectLst>
            <a:outerShdw blurRad="19050" dist="9525" dir="5400000" algn="bl" rotWithShape="0">
              <a:srgbClr val="282846">
                <a:alpha val="8000"/>
              </a:srgbClr>
            </a:outerShdw>
          </a:effectLst>
        </p:spPr>
        <p:txBody>
          <a:bodyPr/>
          <a:lstStyle/>
          <a:p>
            <a:endParaRPr lang="en-US" sz="1200"/>
          </a:p>
        </p:txBody>
      </p:sp>
      <p:sp>
        <p:nvSpPr>
          <p:cNvPr id="73" name="Text 11">
            <a:extLst>
              <a:ext uri="{FF2B5EF4-FFF2-40B4-BE49-F238E27FC236}">
                <a16:creationId xmlns:a16="http://schemas.microsoft.com/office/drawing/2014/main" id="{09F538E7-3F79-6FAE-1AEF-42731CFF42AD}"/>
              </a:ext>
            </a:extLst>
          </p:cNvPr>
          <p:cNvSpPr/>
          <p:nvPr/>
        </p:nvSpPr>
        <p:spPr>
          <a:xfrm>
            <a:off x="2101257" y="6712118"/>
            <a:ext cx="1164657" cy="172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33333C"/>
                </a:solidFill>
                <a:ea typeface="Helvetica" pitchFamily="34" charset="-122"/>
                <a:cs typeface="Helvetica" pitchFamily="34" charset="-120"/>
              </a:rPr>
              <a:t>MCP client (LLM)</a:t>
            </a:r>
            <a:endParaRPr lang="en-US" sz="1200" dirty="0"/>
          </a:p>
        </p:txBody>
      </p:sp>
      <p:sp>
        <p:nvSpPr>
          <p:cNvPr id="74" name="Shape 12">
            <a:extLst>
              <a:ext uri="{FF2B5EF4-FFF2-40B4-BE49-F238E27FC236}">
                <a16:creationId xmlns:a16="http://schemas.microsoft.com/office/drawing/2014/main" id="{206F1211-81CC-C7FA-F1C1-735AD083ABF4}"/>
              </a:ext>
            </a:extLst>
          </p:cNvPr>
          <p:cNvSpPr/>
          <p:nvPr/>
        </p:nvSpPr>
        <p:spPr>
          <a:xfrm>
            <a:off x="4860561" y="281303"/>
            <a:ext cx="1984044" cy="428272"/>
          </a:xfrm>
          <a:prstGeom prst="roundRect">
            <a:avLst>
              <a:gd name="adj" fmla="val 12295"/>
            </a:avLst>
          </a:prstGeom>
          <a:solidFill>
            <a:srgbClr val="FFFFFF"/>
          </a:solidFill>
          <a:ln w="10636">
            <a:solidFill>
              <a:srgbClr val="9AA0C4"/>
            </a:solidFill>
            <a:prstDash val="solid"/>
          </a:ln>
          <a:effectLst>
            <a:outerShdw blurRad="19050" dist="9525" dir="5400000" algn="bl" rotWithShape="0">
              <a:srgbClr val="282846">
                <a:alpha val="8000"/>
              </a:srgbClr>
            </a:outerShdw>
          </a:effectLst>
        </p:spPr>
        <p:txBody>
          <a:bodyPr/>
          <a:lstStyle/>
          <a:p>
            <a:endParaRPr lang="en-US" sz="1200"/>
          </a:p>
        </p:txBody>
      </p:sp>
      <p:sp>
        <p:nvSpPr>
          <p:cNvPr id="75" name="Text 13">
            <a:extLst>
              <a:ext uri="{FF2B5EF4-FFF2-40B4-BE49-F238E27FC236}">
                <a16:creationId xmlns:a16="http://schemas.microsoft.com/office/drawing/2014/main" id="{080B5005-53BD-52D5-FAE1-5544F206C17D}"/>
              </a:ext>
            </a:extLst>
          </p:cNvPr>
          <p:cNvSpPr/>
          <p:nvPr/>
        </p:nvSpPr>
        <p:spPr>
          <a:xfrm>
            <a:off x="4948562" y="354391"/>
            <a:ext cx="1764258" cy="172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33333C"/>
                </a:solidFill>
                <a:ea typeface="Helvetica" pitchFamily="34" charset="-122"/>
                <a:cs typeface="Helvetica" pitchFamily="34" charset="-120"/>
              </a:rPr>
              <a:t>MCP-over-SPARQL server</a:t>
            </a:r>
            <a:endParaRPr lang="en-US" sz="1200" dirty="0"/>
          </a:p>
        </p:txBody>
      </p:sp>
      <p:sp>
        <p:nvSpPr>
          <p:cNvPr id="76" name="Shape 14">
            <a:extLst>
              <a:ext uri="{FF2B5EF4-FFF2-40B4-BE49-F238E27FC236}">
                <a16:creationId xmlns:a16="http://schemas.microsoft.com/office/drawing/2014/main" id="{78D12A9C-11CF-5165-1C58-46234CE87AF8}"/>
              </a:ext>
            </a:extLst>
          </p:cNvPr>
          <p:cNvSpPr/>
          <p:nvPr/>
        </p:nvSpPr>
        <p:spPr>
          <a:xfrm>
            <a:off x="4860561" y="6639030"/>
            <a:ext cx="1984044" cy="428272"/>
          </a:xfrm>
          <a:prstGeom prst="roundRect">
            <a:avLst>
              <a:gd name="adj" fmla="val 12295"/>
            </a:avLst>
          </a:prstGeom>
          <a:solidFill>
            <a:srgbClr val="FFFFFF"/>
          </a:solidFill>
          <a:ln w="10636">
            <a:solidFill>
              <a:srgbClr val="9AA0C4"/>
            </a:solidFill>
            <a:prstDash val="solid"/>
          </a:ln>
          <a:effectLst>
            <a:outerShdw blurRad="19050" dist="9525" dir="5400000" algn="bl" rotWithShape="0">
              <a:srgbClr val="282846">
                <a:alpha val="8000"/>
              </a:srgbClr>
            </a:outerShdw>
          </a:effectLst>
        </p:spPr>
        <p:txBody>
          <a:bodyPr/>
          <a:lstStyle/>
          <a:p>
            <a:endParaRPr lang="en-US" sz="1200"/>
          </a:p>
        </p:txBody>
      </p:sp>
      <p:sp>
        <p:nvSpPr>
          <p:cNvPr id="77" name="Text 15">
            <a:extLst>
              <a:ext uri="{FF2B5EF4-FFF2-40B4-BE49-F238E27FC236}">
                <a16:creationId xmlns:a16="http://schemas.microsoft.com/office/drawing/2014/main" id="{A3E08243-8892-4F2F-34E9-7B4F97CDCC6D}"/>
              </a:ext>
            </a:extLst>
          </p:cNvPr>
          <p:cNvSpPr/>
          <p:nvPr/>
        </p:nvSpPr>
        <p:spPr>
          <a:xfrm>
            <a:off x="4948562" y="6712118"/>
            <a:ext cx="1764258" cy="172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33333C"/>
                </a:solidFill>
                <a:ea typeface="Helvetica" pitchFamily="34" charset="-122"/>
                <a:cs typeface="Helvetica" pitchFamily="34" charset="-120"/>
              </a:rPr>
              <a:t>MCP-over-SPARQL server</a:t>
            </a:r>
            <a:endParaRPr lang="en-US" sz="1200" dirty="0"/>
          </a:p>
        </p:txBody>
      </p:sp>
      <p:sp>
        <p:nvSpPr>
          <p:cNvPr id="78" name="Shape 16">
            <a:extLst>
              <a:ext uri="{FF2B5EF4-FFF2-40B4-BE49-F238E27FC236}">
                <a16:creationId xmlns:a16="http://schemas.microsoft.com/office/drawing/2014/main" id="{099E053E-7B88-1462-7463-F998BD17870A}"/>
              </a:ext>
            </a:extLst>
          </p:cNvPr>
          <p:cNvSpPr/>
          <p:nvPr/>
        </p:nvSpPr>
        <p:spPr>
          <a:xfrm>
            <a:off x="7858180" y="281303"/>
            <a:ext cx="1159524" cy="421536"/>
          </a:xfrm>
          <a:prstGeom prst="roundRect">
            <a:avLst>
              <a:gd name="adj" fmla="val 12295"/>
            </a:avLst>
          </a:prstGeom>
          <a:solidFill>
            <a:srgbClr val="FFFFFF"/>
          </a:solidFill>
          <a:ln w="10636">
            <a:solidFill>
              <a:srgbClr val="9AA0C4"/>
            </a:solidFill>
            <a:prstDash val="solid"/>
          </a:ln>
          <a:effectLst>
            <a:outerShdw blurRad="19050" dist="9525" dir="5400000" algn="bl" rotWithShape="0">
              <a:srgbClr val="282846">
                <a:alpha val="8000"/>
              </a:srgbClr>
            </a:outerShdw>
          </a:effectLst>
        </p:spPr>
        <p:txBody>
          <a:bodyPr/>
          <a:lstStyle/>
          <a:p>
            <a:endParaRPr lang="en-US" sz="1200"/>
          </a:p>
        </p:txBody>
      </p:sp>
      <p:sp>
        <p:nvSpPr>
          <p:cNvPr id="79" name="Text 17">
            <a:extLst>
              <a:ext uri="{FF2B5EF4-FFF2-40B4-BE49-F238E27FC236}">
                <a16:creationId xmlns:a16="http://schemas.microsoft.com/office/drawing/2014/main" id="{AF27F2B9-9B60-8185-C74C-AF725AF6485E}"/>
              </a:ext>
            </a:extLst>
          </p:cNvPr>
          <p:cNvSpPr/>
          <p:nvPr/>
        </p:nvSpPr>
        <p:spPr>
          <a:xfrm>
            <a:off x="7947918" y="354391"/>
            <a:ext cx="965112" cy="172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33333C"/>
                </a:solidFill>
                <a:ea typeface="Helvetica" pitchFamily="34" charset="-122"/>
                <a:cs typeface="Helvetica" pitchFamily="34" charset="-120"/>
              </a:rPr>
              <a:t>SHACL model</a:t>
            </a:r>
            <a:endParaRPr lang="en-US" sz="1200" dirty="0"/>
          </a:p>
        </p:txBody>
      </p:sp>
      <p:sp>
        <p:nvSpPr>
          <p:cNvPr id="80" name="Shape 18">
            <a:extLst>
              <a:ext uri="{FF2B5EF4-FFF2-40B4-BE49-F238E27FC236}">
                <a16:creationId xmlns:a16="http://schemas.microsoft.com/office/drawing/2014/main" id="{E8C44A08-C177-973A-789F-AEA7B6D68A33}"/>
              </a:ext>
            </a:extLst>
          </p:cNvPr>
          <p:cNvSpPr/>
          <p:nvPr/>
        </p:nvSpPr>
        <p:spPr>
          <a:xfrm>
            <a:off x="7858180" y="6639030"/>
            <a:ext cx="1159524" cy="428272"/>
          </a:xfrm>
          <a:prstGeom prst="roundRect">
            <a:avLst>
              <a:gd name="adj" fmla="val 12295"/>
            </a:avLst>
          </a:prstGeom>
          <a:solidFill>
            <a:srgbClr val="FFFFFF"/>
          </a:solidFill>
          <a:ln w="10636">
            <a:solidFill>
              <a:srgbClr val="9AA0C4"/>
            </a:solidFill>
            <a:prstDash val="solid"/>
          </a:ln>
          <a:effectLst>
            <a:outerShdw blurRad="19050" dist="9525" dir="5400000" algn="bl" rotWithShape="0">
              <a:srgbClr val="282846">
                <a:alpha val="8000"/>
              </a:srgbClr>
            </a:outerShdw>
          </a:effectLst>
        </p:spPr>
        <p:txBody>
          <a:bodyPr/>
          <a:lstStyle/>
          <a:p>
            <a:endParaRPr lang="en-US" sz="1200"/>
          </a:p>
        </p:txBody>
      </p:sp>
      <p:sp>
        <p:nvSpPr>
          <p:cNvPr id="81" name="Text 19">
            <a:extLst>
              <a:ext uri="{FF2B5EF4-FFF2-40B4-BE49-F238E27FC236}">
                <a16:creationId xmlns:a16="http://schemas.microsoft.com/office/drawing/2014/main" id="{0A3CA234-688A-0876-BA65-889E6BED5EAF}"/>
              </a:ext>
            </a:extLst>
          </p:cNvPr>
          <p:cNvSpPr/>
          <p:nvPr/>
        </p:nvSpPr>
        <p:spPr>
          <a:xfrm>
            <a:off x="7947918" y="6712118"/>
            <a:ext cx="965112" cy="172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33333C"/>
                </a:solidFill>
                <a:ea typeface="Helvetica" pitchFamily="34" charset="-122"/>
                <a:cs typeface="Helvetica" pitchFamily="34" charset="-120"/>
              </a:rPr>
              <a:t>SHACL model</a:t>
            </a:r>
            <a:endParaRPr lang="en-US" sz="1200" dirty="0"/>
          </a:p>
        </p:txBody>
      </p:sp>
      <p:sp>
        <p:nvSpPr>
          <p:cNvPr id="82" name="Shape 20">
            <a:extLst>
              <a:ext uri="{FF2B5EF4-FFF2-40B4-BE49-F238E27FC236}">
                <a16:creationId xmlns:a16="http://schemas.microsoft.com/office/drawing/2014/main" id="{88F8B348-5C09-8050-BAE3-5440F100E45B}"/>
              </a:ext>
            </a:extLst>
          </p:cNvPr>
          <p:cNvSpPr/>
          <p:nvPr/>
        </p:nvSpPr>
        <p:spPr>
          <a:xfrm>
            <a:off x="9784071" y="281303"/>
            <a:ext cx="1397726" cy="428272"/>
          </a:xfrm>
          <a:prstGeom prst="roundRect">
            <a:avLst>
              <a:gd name="adj" fmla="val 12295"/>
            </a:avLst>
          </a:prstGeom>
          <a:solidFill>
            <a:srgbClr val="FFFFFF"/>
          </a:solidFill>
          <a:ln w="10636">
            <a:solidFill>
              <a:srgbClr val="9AA0C4"/>
            </a:solidFill>
            <a:prstDash val="solid"/>
          </a:ln>
          <a:effectLst>
            <a:outerShdw blurRad="19050" dist="9525" dir="5400000" algn="bl" rotWithShape="0">
              <a:srgbClr val="282846">
                <a:alpha val="8000"/>
              </a:srgbClr>
            </a:outerShdw>
          </a:effectLst>
        </p:spPr>
        <p:txBody>
          <a:bodyPr/>
          <a:lstStyle/>
          <a:p>
            <a:endParaRPr lang="en-US" sz="1200"/>
          </a:p>
        </p:txBody>
      </p:sp>
      <p:sp>
        <p:nvSpPr>
          <p:cNvPr id="83" name="Text 21">
            <a:extLst>
              <a:ext uri="{FF2B5EF4-FFF2-40B4-BE49-F238E27FC236}">
                <a16:creationId xmlns:a16="http://schemas.microsoft.com/office/drawing/2014/main" id="{4F6812A2-8E92-9A21-F7D7-1D15E02ABC82}"/>
              </a:ext>
            </a:extLst>
          </p:cNvPr>
          <p:cNvSpPr/>
          <p:nvPr/>
        </p:nvSpPr>
        <p:spPr>
          <a:xfrm>
            <a:off x="9873809" y="354391"/>
            <a:ext cx="1218249" cy="172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33333C"/>
                </a:solidFill>
                <a:ea typeface="Helvetica" pitchFamily="34" charset="-122"/>
                <a:cs typeface="Helvetica" pitchFamily="34" charset="-120"/>
              </a:rPr>
              <a:t>SPARQL endpoint</a:t>
            </a:r>
            <a:endParaRPr lang="en-US" sz="1200" dirty="0"/>
          </a:p>
        </p:txBody>
      </p:sp>
      <p:sp>
        <p:nvSpPr>
          <p:cNvPr id="84" name="Shape 22">
            <a:extLst>
              <a:ext uri="{FF2B5EF4-FFF2-40B4-BE49-F238E27FC236}">
                <a16:creationId xmlns:a16="http://schemas.microsoft.com/office/drawing/2014/main" id="{54856B02-13C1-DE94-35AF-00A1FB52E521}"/>
              </a:ext>
            </a:extLst>
          </p:cNvPr>
          <p:cNvSpPr/>
          <p:nvPr/>
        </p:nvSpPr>
        <p:spPr>
          <a:xfrm>
            <a:off x="9725023" y="6639030"/>
            <a:ext cx="1456774" cy="428272"/>
          </a:xfrm>
          <a:prstGeom prst="roundRect">
            <a:avLst>
              <a:gd name="adj" fmla="val 12295"/>
            </a:avLst>
          </a:prstGeom>
          <a:solidFill>
            <a:srgbClr val="FFFFFF"/>
          </a:solidFill>
          <a:ln w="10636">
            <a:solidFill>
              <a:srgbClr val="9AA0C4"/>
            </a:solidFill>
            <a:prstDash val="solid"/>
          </a:ln>
          <a:effectLst>
            <a:outerShdw blurRad="19050" dist="9525" dir="5400000" algn="bl" rotWithShape="0">
              <a:srgbClr val="282846">
                <a:alpha val="8000"/>
              </a:srgbClr>
            </a:outerShdw>
          </a:effectLst>
        </p:spPr>
        <p:txBody>
          <a:bodyPr/>
          <a:lstStyle/>
          <a:p>
            <a:endParaRPr lang="en-US" sz="1200"/>
          </a:p>
        </p:txBody>
      </p:sp>
      <p:sp>
        <p:nvSpPr>
          <p:cNvPr id="85" name="Text 23">
            <a:extLst>
              <a:ext uri="{FF2B5EF4-FFF2-40B4-BE49-F238E27FC236}">
                <a16:creationId xmlns:a16="http://schemas.microsoft.com/office/drawing/2014/main" id="{8BBE1435-4C3D-991F-AF45-47751E37E010}"/>
              </a:ext>
            </a:extLst>
          </p:cNvPr>
          <p:cNvSpPr/>
          <p:nvPr/>
        </p:nvSpPr>
        <p:spPr>
          <a:xfrm>
            <a:off x="9873809" y="6712118"/>
            <a:ext cx="1218249" cy="172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33333C"/>
                </a:solidFill>
                <a:ea typeface="Helvetica" pitchFamily="34" charset="-122"/>
                <a:cs typeface="Helvetica" pitchFamily="34" charset="-120"/>
              </a:rPr>
              <a:t>SPARQL endpoint</a:t>
            </a:r>
            <a:endParaRPr lang="en-US" sz="1200" dirty="0"/>
          </a:p>
        </p:txBody>
      </p:sp>
      <p:sp>
        <p:nvSpPr>
          <p:cNvPr id="87" name="Text 25">
            <a:extLst>
              <a:ext uri="{FF2B5EF4-FFF2-40B4-BE49-F238E27FC236}">
                <a16:creationId xmlns:a16="http://schemas.microsoft.com/office/drawing/2014/main" id="{E8DFA006-802B-6B88-8F3D-72A21A34104F}"/>
              </a:ext>
            </a:extLst>
          </p:cNvPr>
          <p:cNvSpPr/>
          <p:nvPr/>
        </p:nvSpPr>
        <p:spPr>
          <a:xfrm>
            <a:off x="992869" y="818170"/>
            <a:ext cx="1842083" cy="158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3A3A44"/>
                </a:solidFill>
                <a:ea typeface="Courier New" pitchFamily="34" charset="-122"/>
                <a:cs typeface="Courier New" pitchFamily="34" charset="-120"/>
              </a:rPr>
              <a:t>natural-language question</a:t>
            </a:r>
            <a:endParaRPr lang="en-US" sz="1200" dirty="0"/>
          </a:p>
        </p:txBody>
      </p:sp>
      <p:sp>
        <p:nvSpPr>
          <p:cNvPr id="89" name="Text 27">
            <a:extLst>
              <a:ext uri="{FF2B5EF4-FFF2-40B4-BE49-F238E27FC236}">
                <a16:creationId xmlns:a16="http://schemas.microsoft.com/office/drawing/2014/main" id="{02542046-C185-2916-3C81-3673C72AD994}"/>
              </a:ext>
            </a:extLst>
          </p:cNvPr>
          <p:cNvSpPr/>
          <p:nvPr/>
        </p:nvSpPr>
        <p:spPr>
          <a:xfrm>
            <a:off x="3720989" y="1111280"/>
            <a:ext cx="1305822" cy="183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3A3A44"/>
                </a:solidFill>
                <a:ea typeface="Courier New" pitchFamily="34" charset="-122"/>
                <a:cs typeface="Courier New" pitchFamily="34" charset="-120"/>
              </a:rPr>
              <a:t>schema_overview</a:t>
            </a:r>
            <a:endParaRPr lang="en-US" sz="1200" dirty="0"/>
          </a:p>
        </p:txBody>
      </p:sp>
      <p:sp>
        <p:nvSpPr>
          <p:cNvPr id="91" name="Text 29">
            <a:extLst>
              <a:ext uri="{FF2B5EF4-FFF2-40B4-BE49-F238E27FC236}">
                <a16:creationId xmlns:a16="http://schemas.microsoft.com/office/drawing/2014/main" id="{4293723C-BFF5-EEAA-D444-291A6EA98A38}"/>
              </a:ext>
            </a:extLst>
          </p:cNvPr>
          <p:cNvSpPr/>
          <p:nvPr/>
        </p:nvSpPr>
        <p:spPr>
          <a:xfrm>
            <a:off x="6777675" y="1412302"/>
            <a:ext cx="769673" cy="158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3A3A44"/>
                </a:solidFill>
                <a:ea typeface="Courier New" pitchFamily="34" charset="-122"/>
                <a:cs typeface="Courier New" pitchFamily="34" charset="-120"/>
              </a:rPr>
              <a:t>read model</a:t>
            </a:r>
            <a:endParaRPr lang="en-US" sz="1200" dirty="0"/>
          </a:p>
        </p:txBody>
      </p:sp>
      <p:sp>
        <p:nvSpPr>
          <p:cNvPr id="93" name="Text 31">
            <a:extLst>
              <a:ext uri="{FF2B5EF4-FFF2-40B4-BE49-F238E27FC236}">
                <a16:creationId xmlns:a16="http://schemas.microsoft.com/office/drawing/2014/main" id="{2F48236D-FFA6-E670-64F6-DA501941C395}"/>
              </a:ext>
            </a:extLst>
          </p:cNvPr>
          <p:cNvSpPr/>
          <p:nvPr/>
        </p:nvSpPr>
        <p:spPr>
          <a:xfrm>
            <a:off x="3542198" y="1805388"/>
            <a:ext cx="1484613" cy="158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3A3A44"/>
                </a:solidFill>
                <a:ea typeface="Courier New" pitchFamily="34" charset="-122"/>
                <a:cs typeface="Courier New" pitchFamily="34" charset="-120"/>
              </a:rPr>
              <a:t>high-level synthesis</a:t>
            </a:r>
            <a:endParaRPr lang="en-US" sz="1200" dirty="0"/>
          </a:p>
        </p:txBody>
      </p:sp>
      <p:sp>
        <p:nvSpPr>
          <p:cNvPr id="95" name="Text 33">
            <a:extLst>
              <a:ext uri="{FF2B5EF4-FFF2-40B4-BE49-F238E27FC236}">
                <a16:creationId xmlns:a16="http://schemas.microsoft.com/office/drawing/2014/main" id="{8D027A34-39B3-EAAF-6959-3A4FD46F51E7}"/>
              </a:ext>
            </a:extLst>
          </p:cNvPr>
          <p:cNvSpPr/>
          <p:nvPr/>
        </p:nvSpPr>
        <p:spPr>
          <a:xfrm>
            <a:off x="3792370" y="2119052"/>
            <a:ext cx="984155" cy="158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3A3A44"/>
                </a:solidFill>
                <a:ea typeface="Courier New" pitchFamily="34" charset="-122"/>
                <a:cs typeface="Courier New" pitchFamily="34" charset="-120"/>
              </a:rPr>
              <a:t>get_few_shots</a:t>
            </a:r>
            <a:endParaRPr lang="en-US" sz="1200" dirty="0"/>
          </a:p>
        </p:txBody>
      </p:sp>
      <p:sp>
        <p:nvSpPr>
          <p:cNvPr id="97" name="Text 35">
            <a:extLst>
              <a:ext uri="{FF2B5EF4-FFF2-40B4-BE49-F238E27FC236}">
                <a16:creationId xmlns:a16="http://schemas.microsoft.com/office/drawing/2014/main" id="{F9BCC443-F364-98CB-4088-F44AF5C90672}"/>
              </a:ext>
            </a:extLst>
          </p:cNvPr>
          <p:cNvSpPr/>
          <p:nvPr/>
        </p:nvSpPr>
        <p:spPr>
          <a:xfrm>
            <a:off x="3685186" y="2432716"/>
            <a:ext cx="1198637" cy="158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3A3A44"/>
                </a:solidFill>
                <a:ea typeface="Courier New" pitchFamily="34" charset="-122"/>
                <a:cs typeface="Courier New" pitchFamily="34" charset="-120"/>
              </a:rPr>
              <a:t>curated examples</a:t>
            </a:r>
            <a:endParaRPr lang="en-US" sz="1200" dirty="0"/>
          </a:p>
        </p:txBody>
      </p:sp>
      <p:sp>
        <p:nvSpPr>
          <p:cNvPr id="99" name="Text 37">
            <a:extLst>
              <a:ext uri="{FF2B5EF4-FFF2-40B4-BE49-F238E27FC236}">
                <a16:creationId xmlns:a16="http://schemas.microsoft.com/office/drawing/2014/main" id="{79256E07-1DFE-6ED2-4767-3A73B379E184}"/>
              </a:ext>
            </a:extLst>
          </p:cNvPr>
          <p:cNvSpPr/>
          <p:nvPr/>
        </p:nvSpPr>
        <p:spPr>
          <a:xfrm>
            <a:off x="3292026" y="2746380"/>
            <a:ext cx="1988249" cy="158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3A3A44"/>
                </a:solidFill>
                <a:ea typeface="Courier New" pitchFamily="34" charset="-122"/>
                <a:cs typeface="Courier New" pitchFamily="34" charset="-120"/>
              </a:rPr>
              <a:t>discover_nodeshapes(shapes)</a:t>
            </a:r>
            <a:endParaRPr lang="en-US" sz="1200" dirty="0"/>
          </a:p>
        </p:txBody>
      </p:sp>
      <p:sp>
        <p:nvSpPr>
          <p:cNvPr id="101" name="Text 39">
            <a:extLst>
              <a:ext uri="{FF2B5EF4-FFF2-40B4-BE49-F238E27FC236}">
                <a16:creationId xmlns:a16="http://schemas.microsoft.com/office/drawing/2014/main" id="{B1C1AEBA-4CF8-E979-CC7E-DB3186039840}"/>
              </a:ext>
            </a:extLst>
          </p:cNvPr>
          <p:cNvSpPr/>
          <p:nvPr/>
        </p:nvSpPr>
        <p:spPr>
          <a:xfrm>
            <a:off x="6382266" y="2974252"/>
            <a:ext cx="1627601" cy="158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3A3A44"/>
                </a:solidFill>
                <a:ea typeface="Courier New" pitchFamily="34" charset="-122"/>
                <a:cs typeface="Courier New" pitchFamily="34" charset="-120"/>
              </a:rPr>
              <a:t>read shape definitions</a:t>
            </a:r>
            <a:endParaRPr lang="en-US" sz="1200" dirty="0"/>
          </a:p>
        </p:txBody>
      </p:sp>
      <p:sp>
        <p:nvSpPr>
          <p:cNvPr id="103" name="Text 41">
            <a:extLst>
              <a:ext uri="{FF2B5EF4-FFF2-40B4-BE49-F238E27FC236}">
                <a16:creationId xmlns:a16="http://schemas.microsoft.com/office/drawing/2014/main" id="{5143491A-2599-4AE1-C7AA-E8FFFCBDE051}"/>
              </a:ext>
            </a:extLst>
          </p:cNvPr>
          <p:cNvSpPr/>
          <p:nvPr/>
        </p:nvSpPr>
        <p:spPr>
          <a:xfrm>
            <a:off x="3008102" y="3316755"/>
            <a:ext cx="3387388" cy="158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3A3A44"/>
                </a:solidFill>
                <a:ea typeface="Courier New" pitchFamily="34" charset="-122"/>
                <a:cs typeface="Courier New" pitchFamily="34" charset="-120"/>
              </a:rPr>
              <a:t>predicates, cardinalities, sh:agentInstruction</a:t>
            </a:r>
            <a:endParaRPr lang="en-US" sz="1200" dirty="0"/>
          </a:p>
        </p:txBody>
      </p:sp>
      <p:sp>
        <p:nvSpPr>
          <p:cNvPr id="105" name="Text 43">
            <a:extLst>
              <a:ext uri="{FF2B5EF4-FFF2-40B4-BE49-F238E27FC236}">
                <a16:creationId xmlns:a16="http://schemas.microsoft.com/office/drawing/2014/main" id="{7A6B4312-D60C-B381-01B2-268C116B0E55}"/>
              </a:ext>
            </a:extLst>
          </p:cNvPr>
          <p:cNvSpPr/>
          <p:nvPr/>
        </p:nvSpPr>
        <p:spPr>
          <a:xfrm>
            <a:off x="3077429" y="3687372"/>
            <a:ext cx="2430082" cy="158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3A3A44"/>
                </a:solidFill>
                <a:ea typeface="Courier New" pitchFamily="34" charset="-122"/>
                <a:cs typeface="Courier New" pitchFamily="34" charset="-120"/>
              </a:rPr>
              <a:t>reconcile_entities(labels, class)</a:t>
            </a:r>
            <a:endParaRPr lang="en-US" sz="1200" dirty="0"/>
          </a:p>
        </p:txBody>
      </p:sp>
      <p:sp>
        <p:nvSpPr>
          <p:cNvPr id="107" name="Text 45">
            <a:extLst>
              <a:ext uri="{FF2B5EF4-FFF2-40B4-BE49-F238E27FC236}">
                <a16:creationId xmlns:a16="http://schemas.microsoft.com/office/drawing/2014/main" id="{7015B9F0-ABFB-D5E2-2C51-0962BE955501}"/>
              </a:ext>
            </a:extLst>
          </p:cNvPr>
          <p:cNvSpPr/>
          <p:nvPr/>
        </p:nvSpPr>
        <p:spPr>
          <a:xfrm>
            <a:off x="2863061" y="4001036"/>
            <a:ext cx="2871915" cy="158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3A3A44"/>
                </a:solidFill>
                <a:ea typeface="Courier New" pitchFamily="34" charset="-122"/>
                <a:cs typeface="Courier New" pitchFamily="34" charset="-120"/>
              </a:rPr>
              <a:t>candidate IRIs (reconciliation service)</a:t>
            </a:r>
            <a:endParaRPr lang="en-US" sz="1200" dirty="0"/>
          </a:p>
        </p:txBody>
      </p:sp>
      <p:sp>
        <p:nvSpPr>
          <p:cNvPr id="108" name="Shape 46">
            <a:extLst>
              <a:ext uri="{FF2B5EF4-FFF2-40B4-BE49-F238E27FC236}">
                <a16:creationId xmlns:a16="http://schemas.microsoft.com/office/drawing/2014/main" id="{46EB119C-7E5C-9419-D075-16E14B8E1659}"/>
              </a:ext>
            </a:extLst>
          </p:cNvPr>
          <p:cNvSpPr/>
          <p:nvPr/>
        </p:nvSpPr>
        <p:spPr>
          <a:xfrm>
            <a:off x="1830333" y="4363257"/>
            <a:ext cx="1657818" cy="311064"/>
          </a:xfrm>
          <a:prstGeom prst="roundRect">
            <a:avLst>
              <a:gd name="adj" fmla="val 9397"/>
            </a:avLst>
          </a:prstGeom>
          <a:solidFill>
            <a:srgbClr val="FFF4B8"/>
          </a:solidFill>
          <a:ln w="10636">
            <a:solidFill>
              <a:srgbClr val="D8C64E"/>
            </a:solidFill>
            <a:prstDash val="solid"/>
          </a:ln>
          <a:effectLst>
            <a:outerShdw blurRad="19050" dist="9525" dir="5400000" algn="bl" rotWithShape="0">
              <a:srgbClr val="282846">
                <a:alpha val="8000"/>
              </a:srgbClr>
            </a:outerShdw>
          </a:effectLst>
        </p:spPr>
        <p:txBody>
          <a:bodyPr/>
          <a:lstStyle/>
          <a:p>
            <a:endParaRPr lang="en-US" sz="1200"/>
          </a:p>
        </p:txBody>
      </p:sp>
      <p:sp>
        <p:nvSpPr>
          <p:cNvPr id="109" name="Text 47">
            <a:extLst>
              <a:ext uri="{FF2B5EF4-FFF2-40B4-BE49-F238E27FC236}">
                <a16:creationId xmlns:a16="http://schemas.microsoft.com/office/drawing/2014/main" id="{4A5206F2-B734-F646-CA49-6C8CEEF4E1AB}"/>
              </a:ext>
            </a:extLst>
          </p:cNvPr>
          <p:cNvSpPr/>
          <p:nvPr/>
        </p:nvSpPr>
        <p:spPr>
          <a:xfrm>
            <a:off x="1933753" y="4424281"/>
            <a:ext cx="1554397" cy="158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A4423"/>
                </a:solidFill>
                <a:ea typeface="Helvetica" pitchFamily="34" charset="-122"/>
                <a:cs typeface="Helvetica" pitchFamily="34" charset="-120"/>
              </a:rPr>
              <a:t>build the SPARQL query</a:t>
            </a:r>
            <a:endParaRPr lang="en-US" sz="1200" dirty="0"/>
          </a:p>
        </p:txBody>
      </p:sp>
      <p:sp>
        <p:nvSpPr>
          <p:cNvPr id="111" name="Text 49">
            <a:extLst>
              <a:ext uri="{FF2B5EF4-FFF2-40B4-BE49-F238E27FC236}">
                <a16:creationId xmlns:a16="http://schemas.microsoft.com/office/drawing/2014/main" id="{CA711140-FFE9-9501-6BF0-A2A641B25012}"/>
              </a:ext>
            </a:extLst>
          </p:cNvPr>
          <p:cNvSpPr/>
          <p:nvPr/>
        </p:nvSpPr>
        <p:spPr>
          <a:xfrm>
            <a:off x="3578002" y="4555921"/>
            <a:ext cx="1657935" cy="1836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3A3A44"/>
                </a:solidFill>
                <a:ea typeface="Courier New" pitchFamily="34" charset="-122"/>
                <a:cs typeface="Courier New" pitchFamily="34" charset="-120"/>
              </a:rPr>
              <a:t>query_sparql(query)</a:t>
            </a:r>
            <a:endParaRPr lang="en-US" sz="1200" dirty="0"/>
          </a:p>
        </p:txBody>
      </p:sp>
      <p:sp>
        <p:nvSpPr>
          <p:cNvPr id="113" name="Text 51">
            <a:extLst>
              <a:ext uri="{FF2B5EF4-FFF2-40B4-BE49-F238E27FC236}">
                <a16:creationId xmlns:a16="http://schemas.microsoft.com/office/drawing/2014/main" id="{FE870AC0-50FD-61FA-64CF-B2B903B62CDA}"/>
              </a:ext>
            </a:extLst>
          </p:cNvPr>
          <p:cNvSpPr/>
          <p:nvPr/>
        </p:nvSpPr>
        <p:spPr>
          <a:xfrm>
            <a:off x="7735826" y="4919157"/>
            <a:ext cx="1281878" cy="1836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3A3A44"/>
                </a:solidFill>
                <a:ea typeface="Courier New" pitchFamily="34" charset="-122"/>
                <a:cs typeface="Courier New" pitchFamily="34" charset="-120"/>
              </a:rPr>
              <a:t>execute query</a:t>
            </a:r>
            <a:endParaRPr lang="en-US" sz="1200" dirty="0"/>
          </a:p>
        </p:txBody>
      </p:sp>
      <p:sp>
        <p:nvSpPr>
          <p:cNvPr id="115" name="Text 53">
            <a:extLst>
              <a:ext uri="{FF2B5EF4-FFF2-40B4-BE49-F238E27FC236}">
                <a16:creationId xmlns:a16="http://schemas.microsoft.com/office/drawing/2014/main" id="{401CB096-5403-0178-3487-1212F1D992A4}"/>
              </a:ext>
            </a:extLst>
          </p:cNvPr>
          <p:cNvSpPr/>
          <p:nvPr/>
        </p:nvSpPr>
        <p:spPr>
          <a:xfrm>
            <a:off x="7845634" y="5248956"/>
            <a:ext cx="1067396" cy="1836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3A3A44"/>
                </a:solidFill>
                <a:ea typeface="Courier New" pitchFamily="34" charset="-122"/>
                <a:cs typeface="Courier New" pitchFamily="34" charset="-120"/>
              </a:rPr>
              <a:t>results</a:t>
            </a:r>
            <a:endParaRPr lang="en-US" sz="1200" dirty="0"/>
          </a:p>
        </p:txBody>
      </p:sp>
      <p:sp>
        <p:nvSpPr>
          <p:cNvPr id="117" name="Text 55">
            <a:extLst>
              <a:ext uri="{FF2B5EF4-FFF2-40B4-BE49-F238E27FC236}">
                <a16:creationId xmlns:a16="http://schemas.microsoft.com/office/drawing/2014/main" id="{E4B5BFED-7EBB-C506-8503-30CD2C206D37}"/>
              </a:ext>
            </a:extLst>
          </p:cNvPr>
          <p:cNvSpPr/>
          <p:nvPr/>
        </p:nvSpPr>
        <p:spPr>
          <a:xfrm>
            <a:off x="3578002" y="5569356"/>
            <a:ext cx="1702273" cy="158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3A3A44"/>
                </a:solidFill>
                <a:ea typeface="Courier New" pitchFamily="34" charset="-122"/>
                <a:cs typeface="Courier New" pitchFamily="34" charset="-120"/>
              </a:rPr>
              <a:t>results (real data)</a:t>
            </a:r>
            <a:endParaRPr lang="en-US" sz="1200" dirty="0"/>
          </a:p>
        </p:txBody>
      </p:sp>
      <p:sp>
        <p:nvSpPr>
          <p:cNvPr id="119" name="Text 57">
            <a:extLst>
              <a:ext uri="{FF2B5EF4-FFF2-40B4-BE49-F238E27FC236}">
                <a16:creationId xmlns:a16="http://schemas.microsoft.com/office/drawing/2014/main" id="{B155B535-F935-67A4-5E59-D576A12397B1}"/>
              </a:ext>
            </a:extLst>
          </p:cNvPr>
          <p:cNvSpPr/>
          <p:nvPr/>
        </p:nvSpPr>
        <p:spPr>
          <a:xfrm>
            <a:off x="1217957" y="5907851"/>
            <a:ext cx="1341624" cy="158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3A3A44"/>
                </a:solidFill>
                <a:ea typeface="Courier New" pitchFamily="34" charset="-122"/>
                <a:cs typeface="Courier New" pitchFamily="34" charset="-120"/>
              </a:rPr>
              <a:t>answer (real data)</a:t>
            </a:r>
            <a:endParaRPr lang="en-US" sz="1200" dirty="0"/>
          </a:p>
        </p:txBody>
      </p: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48DEB9FC-5403-74E7-BF92-37C3D32722DA}"/>
              </a:ext>
            </a:extLst>
          </p:cNvPr>
          <p:cNvCxnSpPr>
            <a:cxnSpLocks/>
          </p:cNvCxnSpPr>
          <p:nvPr/>
        </p:nvCxnSpPr>
        <p:spPr>
          <a:xfrm flipV="1">
            <a:off x="959519" y="1060777"/>
            <a:ext cx="1731479" cy="179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9DB0CF38-90FB-B7D2-D641-1E841F07CD04}"/>
              </a:ext>
            </a:extLst>
          </p:cNvPr>
          <p:cNvCxnSpPr>
            <a:cxnSpLocks/>
          </p:cNvCxnSpPr>
          <p:nvPr/>
        </p:nvCxnSpPr>
        <p:spPr>
          <a:xfrm>
            <a:off x="2698638" y="1341967"/>
            <a:ext cx="3139465" cy="6257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501D2A7C-9946-5F2D-08D1-57967BCFD64A}"/>
              </a:ext>
            </a:extLst>
          </p:cNvPr>
          <p:cNvCxnSpPr>
            <a:cxnSpLocks/>
          </p:cNvCxnSpPr>
          <p:nvPr/>
        </p:nvCxnSpPr>
        <p:spPr>
          <a:xfrm flipH="1" flipV="1">
            <a:off x="2698638" y="2007130"/>
            <a:ext cx="3132053" cy="15770"/>
          </a:xfrm>
          <a:prstGeom prst="straightConnector1">
            <a:avLst/>
          </a:prstGeom>
          <a:ln w="158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64626788-E802-103C-7754-70767003F306}"/>
              </a:ext>
            </a:extLst>
          </p:cNvPr>
          <p:cNvCxnSpPr>
            <a:cxnSpLocks/>
          </p:cNvCxnSpPr>
          <p:nvPr/>
        </p:nvCxnSpPr>
        <p:spPr>
          <a:xfrm>
            <a:off x="5826929" y="1626514"/>
            <a:ext cx="2607423" cy="10338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257F9151-792A-B55B-FE6B-6B977D7CB1B7}"/>
              </a:ext>
            </a:extLst>
          </p:cNvPr>
          <p:cNvCxnSpPr>
            <a:cxnSpLocks/>
          </p:cNvCxnSpPr>
          <p:nvPr/>
        </p:nvCxnSpPr>
        <p:spPr>
          <a:xfrm>
            <a:off x="2694931" y="2350931"/>
            <a:ext cx="3139465" cy="6257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F287C004-92FC-DB60-AA50-85051110402B}"/>
              </a:ext>
            </a:extLst>
          </p:cNvPr>
          <p:cNvCxnSpPr>
            <a:cxnSpLocks/>
          </p:cNvCxnSpPr>
          <p:nvPr/>
        </p:nvCxnSpPr>
        <p:spPr>
          <a:xfrm flipH="1" flipV="1">
            <a:off x="2690998" y="2650838"/>
            <a:ext cx="3132053" cy="15770"/>
          </a:xfrm>
          <a:prstGeom prst="straightConnector1">
            <a:avLst/>
          </a:prstGeom>
          <a:ln w="158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51D5AEFC-C5E4-EA4F-9A58-E1CF96E5F26F}"/>
              </a:ext>
            </a:extLst>
          </p:cNvPr>
          <p:cNvCxnSpPr>
            <a:cxnSpLocks/>
          </p:cNvCxnSpPr>
          <p:nvPr/>
        </p:nvCxnSpPr>
        <p:spPr>
          <a:xfrm>
            <a:off x="2694930" y="2968423"/>
            <a:ext cx="3139465" cy="6257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3FE40DA7-B782-4C26-1328-DD75FD54F518}"/>
              </a:ext>
            </a:extLst>
          </p:cNvPr>
          <p:cNvCxnSpPr>
            <a:cxnSpLocks/>
          </p:cNvCxnSpPr>
          <p:nvPr/>
        </p:nvCxnSpPr>
        <p:spPr>
          <a:xfrm>
            <a:off x="5830691" y="3193266"/>
            <a:ext cx="2607423" cy="10338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FE104B96-FFD7-8D66-088F-8C3F827F3992}"/>
              </a:ext>
            </a:extLst>
          </p:cNvPr>
          <p:cNvCxnSpPr>
            <a:cxnSpLocks/>
          </p:cNvCxnSpPr>
          <p:nvPr/>
        </p:nvCxnSpPr>
        <p:spPr>
          <a:xfrm flipH="1" flipV="1">
            <a:off x="2690997" y="3532708"/>
            <a:ext cx="3132053" cy="15770"/>
          </a:xfrm>
          <a:prstGeom prst="straightConnector1">
            <a:avLst/>
          </a:prstGeom>
          <a:ln w="158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11C51E73-8436-C52D-D53A-229600E651C1}"/>
              </a:ext>
            </a:extLst>
          </p:cNvPr>
          <p:cNvCxnSpPr>
            <a:cxnSpLocks/>
          </p:cNvCxnSpPr>
          <p:nvPr/>
        </p:nvCxnSpPr>
        <p:spPr>
          <a:xfrm>
            <a:off x="2698638" y="3899497"/>
            <a:ext cx="3139465" cy="6257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F25C2B76-F307-06B9-3FB3-6F4FAE357685}"/>
              </a:ext>
            </a:extLst>
          </p:cNvPr>
          <p:cNvCxnSpPr>
            <a:cxnSpLocks/>
          </p:cNvCxnSpPr>
          <p:nvPr/>
        </p:nvCxnSpPr>
        <p:spPr>
          <a:xfrm flipH="1" flipV="1">
            <a:off x="2694876" y="4208010"/>
            <a:ext cx="3132053" cy="15770"/>
          </a:xfrm>
          <a:prstGeom prst="straightConnector1">
            <a:avLst/>
          </a:prstGeom>
          <a:ln w="158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5E2A99FB-5475-610A-C90C-9ED8B44C833A}"/>
              </a:ext>
            </a:extLst>
          </p:cNvPr>
          <p:cNvCxnSpPr>
            <a:cxnSpLocks/>
          </p:cNvCxnSpPr>
          <p:nvPr/>
        </p:nvCxnSpPr>
        <p:spPr>
          <a:xfrm>
            <a:off x="2697584" y="4788625"/>
            <a:ext cx="3139465" cy="6257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C092EE53-2688-CEA2-4627-4FC23F24C80F}"/>
              </a:ext>
            </a:extLst>
          </p:cNvPr>
          <p:cNvCxnSpPr>
            <a:cxnSpLocks/>
          </p:cNvCxnSpPr>
          <p:nvPr/>
        </p:nvCxnSpPr>
        <p:spPr>
          <a:xfrm>
            <a:off x="5827283" y="5143796"/>
            <a:ext cx="4656122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FB20A5EB-7965-6D93-550F-8FE3CF476E9E}"/>
              </a:ext>
            </a:extLst>
          </p:cNvPr>
          <p:cNvCxnSpPr>
            <a:cxnSpLocks/>
          </p:cNvCxnSpPr>
          <p:nvPr/>
        </p:nvCxnSpPr>
        <p:spPr>
          <a:xfrm flipH="1">
            <a:off x="5838103" y="5452483"/>
            <a:ext cx="4648709" cy="0"/>
          </a:xfrm>
          <a:prstGeom prst="straightConnector1">
            <a:avLst/>
          </a:prstGeom>
          <a:ln w="158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6950EB16-24AD-0252-3BFA-2A15103B8EC1}"/>
              </a:ext>
            </a:extLst>
          </p:cNvPr>
          <p:cNvCxnSpPr>
            <a:cxnSpLocks/>
          </p:cNvCxnSpPr>
          <p:nvPr/>
        </p:nvCxnSpPr>
        <p:spPr>
          <a:xfrm flipH="1" flipV="1">
            <a:off x="2683586" y="5811749"/>
            <a:ext cx="3132053" cy="15770"/>
          </a:xfrm>
          <a:prstGeom prst="straightConnector1">
            <a:avLst/>
          </a:prstGeom>
          <a:ln w="158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46D40800-C04D-B66B-E115-E36BE2128CA0}"/>
              </a:ext>
            </a:extLst>
          </p:cNvPr>
          <p:cNvCxnSpPr>
            <a:cxnSpLocks/>
          </p:cNvCxnSpPr>
          <p:nvPr/>
        </p:nvCxnSpPr>
        <p:spPr>
          <a:xfrm flipH="1" flipV="1">
            <a:off x="955642" y="6116703"/>
            <a:ext cx="1735355" cy="7885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9260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4329</TotalTime>
  <Words>183</Words>
  <Application>Microsoft Office PowerPoint</Application>
  <PresentationFormat>Custom</PresentationFormat>
  <Paragraphs>65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Courier New</vt:lpstr>
      <vt:lpstr>Helvetica</vt:lpstr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Tarek Bouzelat</cp:lastModifiedBy>
  <cp:revision>15</cp:revision>
  <dcterms:created xsi:type="dcterms:W3CDTF">2026-06-03T14:04:06Z</dcterms:created>
  <dcterms:modified xsi:type="dcterms:W3CDTF">2026-06-08T13:24:52Z</dcterms:modified>
</cp:coreProperties>
</file>