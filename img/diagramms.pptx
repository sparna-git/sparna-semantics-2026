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1811000" cy="7334250"/>
  <p:notesSz cx="7334250" cy="11811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5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79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>
            <a:extLst>
              <a:ext uri="{FF2B5EF4-FFF2-40B4-BE49-F238E27FC236}">
                <a16:creationId xmlns:a16="http://schemas.microsoft.com/office/drawing/2014/main" id="{FF0B4526-D520-78D7-49BC-FFE67C96F1F6}"/>
              </a:ext>
            </a:extLst>
          </p:cNvPr>
          <p:cNvSpPr/>
          <p:nvPr/>
        </p:nvSpPr>
        <p:spPr>
          <a:xfrm>
            <a:off x="3456421" y="1646210"/>
            <a:ext cx="7908638" cy="2495550"/>
          </a:xfrm>
          <a:prstGeom prst="roundRect">
            <a:avLst>
              <a:gd name="adj" fmla="val 6107"/>
            </a:avLst>
          </a:prstGeom>
          <a:solidFill>
            <a:schemeClr val="bg2"/>
          </a:solidFill>
          <a:ln w="10636">
            <a:solidFill>
              <a:srgbClr val="B9BCC4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23850" y="482900"/>
            <a:ext cx="679450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88" dirty="0">
                <a:solidFill>
                  <a:srgbClr val="8A8E98"/>
                </a:solidFill>
                <a:ea typeface="Helvetica" pitchFamily="34" charset="-122"/>
                <a:cs typeface="Arial" panose="020B0604020202020204" pitchFamily="34" charset="0"/>
              </a:rPr>
              <a:t>CLIENT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3850" y="2768900"/>
            <a:ext cx="726282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88" dirty="0">
                <a:solidFill>
                  <a:srgbClr val="8A8E98"/>
                </a:solidFill>
                <a:ea typeface="Helvetica" pitchFamily="34" charset="-122"/>
                <a:cs typeface="Arial" panose="020B0604020202020204" pitchFamily="34" charset="0"/>
              </a:rPr>
              <a:t>SERVER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3849" y="4972068"/>
            <a:ext cx="1076325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88" dirty="0">
                <a:solidFill>
                  <a:srgbClr val="8A8E98"/>
                </a:solidFill>
                <a:ea typeface="Helvetica" pitchFamily="34" charset="-122"/>
                <a:cs typeface="Arial" panose="020B0604020202020204" pitchFamily="34" charset="0"/>
              </a:rPr>
              <a:t>RESOURCES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91000" y="195421"/>
            <a:ext cx="3429000" cy="819150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 w="10636">
            <a:solidFill>
              <a:srgbClr val="5B6172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56029" y="385445"/>
            <a:ext cx="1698943" cy="27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2A2D35"/>
                </a:solidFill>
                <a:ea typeface="Helvetica" pitchFamily="34" charset="-122"/>
                <a:cs typeface="Arial" panose="020B0604020202020204" pitchFamily="34" charset="0"/>
              </a:rPr>
              <a:t>MCP client (LLM)</a:t>
            </a:r>
            <a:endParaRPr lang="en-US" sz="1575" dirty="0"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04397" y="686117"/>
            <a:ext cx="2402205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A7E89"/>
                </a:solidFill>
                <a:ea typeface="Courier New" pitchFamily="34" charset="-122"/>
                <a:cs typeface="Arial" panose="020B0604020202020204" pitchFamily="34" charset="0"/>
              </a:rPr>
              <a:t>MCP-capable host · orchestrates tools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49397" y="1643221"/>
            <a:ext cx="7957099" cy="2495550"/>
          </a:xfrm>
          <a:prstGeom prst="roundRect">
            <a:avLst>
              <a:gd name="adj" fmla="val 6107"/>
            </a:avLst>
          </a:prstGeom>
          <a:solidFill>
            <a:schemeClr val="bg1"/>
          </a:solidFill>
          <a:ln w="10636">
            <a:solidFill>
              <a:srgbClr val="B9BCC4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5781" y="1826788"/>
            <a:ext cx="2198052" cy="240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72F"/>
                </a:solidFill>
                <a:ea typeface="Helvetica" pitchFamily="34" charset="-122"/>
                <a:cs typeface="Arial" panose="020B0604020202020204" pitchFamily="34" charset="0"/>
              </a:rPr>
              <a:t>MCP-over-SPARQL server</a:t>
            </a:r>
            <a:endParaRPr lang="en-US" sz="1350" dirty="0"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75386" y="2367121"/>
            <a:ext cx="1371600" cy="142875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0636">
            <a:solidFill>
              <a:srgbClr val="9CC0EE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22747" y="2670538"/>
            <a:ext cx="1301479" cy="574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B3340"/>
                </a:solidFill>
                <a:ea typeface="Helvetica" pitchFamily="34" charset="-122"/>
                <a:cs typeface="Arial" panose="020B0604020202020204" pitchFamily="34" charset="0"/>
              </a:rPr>
              <a:t>Schema Overview</a:t>
            </a:r>
            <a:endParaRPr lang="en-US" sz="1300" dirty="0"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29474" y="3146083"/>
            <a:ext cx="1259251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ea typeface="Courier New" pitchFamily="34" charset="-122"/>
                <a:cs typeface="Arial" panose="020B0604020202020204" pitchFamily="34" charset="0"/>
              </a:rPr>
              <a:t>High-level graph synthesis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22874" y="2364724"/>
            <a:ext cx="1371600" cy="142875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0636">
            <a:solidFill>
              <a:srgbClr val="9CC0EE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93590" y="2560266"/>
            <a:ext cx="1242107" cy="603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B3340"/>
                </a:solidFill>
                <a:ea typeface="Helvetica" pitchFamily="34" charset="-122"/>
                <a:cs typeface="Arial" panose="020B0604020202020204" pitchFamily="34" charset="0"/>
              </a:rPr>
              <a:t>Discover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 err="1">
                <a:solidFill>
                  <a:srgbClr val="2B3340"/>
                </a:solidFill>
                <a:ea typeface="Helvetica" pitchFamily="34" charset="-122"/>
                <a:cs typeface="Arial" panose="020B0604020202020204" pitchFamily="34" charset="0"/>
              </a:rPr>
              <a:t>Nodeshapes</a:t>
            </a:r>
            <a:endParaRPr lang="en-US" sz="1300" b="1" dirty="0">
              <a:solidFill>
                <a:srgbClr val="2B3340"/>
              </a:solidFill>
              <a:ea typeface="Helvetica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9441" y="3134502"/>
            <a:ext cx="1131413" cy="418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Relevant SHACL shapes, in detail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5048" y="2367121"/>
            <a:ext cx="1371600" cy="1428750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0636">
            <a:solidFill>
              <a:srgbClr val="D9DBE0"/>
            </a:solidFill>
            <a:prstDash val="solid"/>
          </a:ln>
        </p:spPr>
        <p:txBody>
          <a:bodyPr/>
          <a:lstStyle/>
          <a:p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6296" y="2649400"/>
            <a:ext cx="1428404" cy="525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fr-FR" sz="1300" b="1" dirty="0">
                <a:solidFill>
                  <a:srgbClr val="2B3340"/>
                </a:solidFill>
                <a:cs typeface="Arial" panose="020B0604020202020204" pitchFamily="34" charset="0"/>
              </a:rPr>
              <a:t>G</a:t>
            </a:r>
            <a:r>
              <a:rPr lang="en-US" sz="1300" b="1" dirty="0">
                <a:solidFill>
                  <a:srgbClr val="2B3340"/>
                </a:solidFill>
                <a:cs typeface="Arial" panose="020B0604020202020204" pitchFamily="34" charset="0"/>
              </a:rPr>
              <a:t>et Few Shots</a:t>
            </a:r>
          </a:p>
        </p:txBody>
      </p:sp>
      <p:sp>
        <p:nvSpPr>
          <p:cNvPr id="22" name="Text 20"/>
          <p:cNvSpPr/>
          <p:nvPr/>
        </p:nvSpPr>
        <p:spPr>
          <a:xfrm>
            <a:off x="5017962" y="3015529"/>
            <a:ext cx="983379" cy="427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Validated query patterns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78573" y="2367121"/>
            <a:ext cx="1371600" cy="1428750"/>
          </a:xfrm>
          <a:prstGeom prst="roundRect">
            <a:avLst>
              <a:gd name="adj" fmla="val 8333"/>
            </a:avLst>
          </a:prstGeom>
          <a:solidFill>
            <a:srgbClr val="E8F6EE"/>
          </a:solidFill>
          <a:ln w="10636">
            <a:solidFill>
              <a:srgbClr val="93CFA9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0762" y="2541108"/>
            <a:ext cx="1262122" cy="51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B3340"/>
                </a:solidFill>
                <a:ea typeface="Helvetica" pitchFamily="34" charset="-122"/>
                <a:cs typeface="Arial" panose="020B0604020202020204" pitchFamily="34" charset="0"/>
              </a:rPr>
              <a:t>Reconcile 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B3340"/>
                </a:solidFill>
                <a:cs typeface="Arial" panose="020B0604020202020204" pitchFamily="34" charset="0"/>
              </a:rPr>
              <a:t>Entities</a:t>
            </a:r>
            <a:endParaRPr lang="en-US" sz="1300" dirty="0"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75430" y="3113704"/>
            <a:ext cx="959288" cy="39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Labels to stable IRIs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49978" y="2334721"/>
            <a:ext cx="1371600" cy="1428750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0636">
            <a:solidFill>
              <a:srgbClr val="D9DBE0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22916" y="2619592"/>
            <a:ext cx="10693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B3340"/>
                </a:solidFill>
                <a:ea typeface="Helvetica" pitchFamily="34" charset="-122"/>
                <a:cs typeface="Arial" panose="020B0604020202020204" pitchFamily="34" charset="0"/>
              </a:rPr>
              <a:t>healthcheck</a:t>
            </a:r>
            <a:endParaRPr lang="en-US" sz="1300" dirty="0"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936375" y="3014407"/>
            <a:ext cx="1055846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Status &amp; endpoint reachability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902414" y="2334721"/>
            <a:ext cx="1371600" cy="1428750"/>
          </a:xfrm>
          <a:prstGeom prst="roundRect">
            <a:avLst>
              <a:gd name="adj" fmla="val 8333"/>
            </a:avLst>
          </a:prstGeom>
          <a:solidFill>
            <a:srgbClr val="FDF1E3"/>
          </a:solidFill>
          <a:ln w="10636">
            <a:solidFill>
              <a:srgbClr val="ECC188"/>
            </a:solidFill>
            <a:prstDash val="solid"/>
          </a:ln>
        </p:spPr>
        <p:txBody>
          <a:bodyPr/>
          <a:lstStyle/>
          <a:p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34954" y="2670538"/>
            <a:ext cx="1106519" cy="477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fr-FR" sz="1300" b="1" dirty="0">
                <a:solidFill>
                  <a:srgbClr val="2B3340"/>
                </a:solidFill>
                <a:cs typeface="Arial" panose="020B0604020202020204" pitchFamily="34" charset="0"/>
              </a:rPr>
              <a:t>Q</a:t>
            </a:r>
            <a:r>
              <a:rPr lang="en-US" sz="1300" b="1" dirty="0" err="1">
                <a:solidFill>
                  <a:srgbClr val="2B3340"/>
                </a:solidFill>
                <a:cs typeface="Arial" panose="020B0604020202020204" pitchFamily="34" charset="0"/>
              </a:rPr>
              <a:t>uery</a:t>
            </a:r>
            <a:r>
              <a:rPr lang="en-US" sz="1300" b="1" dirty="0">
                <a:solidFill>
                  <a:srgbClr val="2B3340"/>
                </a:solidFill>
                <a:cs typeface="Arial" panose="020B0604020202020204" pitchFamily="34" charset="0"/>
              </a:rPr>
              <a:t> </a:t>
            </a:r>
            <a:r>
              <a:rPr lang="en-US" sz="1300" b="1" dirty="0" err="1">
                <a:solidFill>
                  <a:srgbClr val="2B3340"/>
                </a:solidFill>
                <a:cs typeface="Arial" panose="020B0604020202020204" pitchFamily="34" charset="0"/>
              </a:rPr>
              <a:t>Sparql</a:t>
            </a:r>
            <a:endParaRPr lang="en-US" sz="1300" dirty="0"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127680" y="3097781"/>
            <a:ext cx="936983" cy="408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Runs the final query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816966" y="4605489"/>
            <a:ext cx="2667000" cy="1028700"/>
          </a:xfrm>
          <a:prstGeom prst="roundRect">
            <a:avLst>
              <a:gd name="adj" fmla="val 12963"/>
            </a:avLst>
          </a:prstGeom>
          <a:solidFill>
            <a:srgbClr val="EAF1FB"/>
          </a:solidFill>
          <a:ln w="10636">
            <a:solidFill>
              <a:srgbClr val="9CC0EE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284643" y="4908860"/>
            <a:ext cx="1731486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4272F"/>
                </a:solidFill>
                <a:ea typeface="Helvetica" pitchFamily="34" charset="-122"/>
                <a:cs typeface="Arial" panose="020B0604020202020204" pitchFamily="34" charset="0"/>
              </a:rPr>
              <a:t>SHACL shapes graph</a:t>
            </a:r>
            <a:endParaRPr lang="en-US" sz="1275" dirty="0"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78013" y="5176513"/>
            <a:ext cx="1144905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Target data model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94240" y="4623453"/>
            <a:ext cx="2328863" cy="1028700"/>
          </a:xfrm>
          <a:prstGeom prst="roundRect">
            <a:avLst>
              <a:gd name="adj" fmla="val 12963"/>
            </a:avLst>
          </a:prstGeom>
          <a:solidFill>
            <a:srgbClr val="E8F6EE"/>
          </a:solidFill>
          <a:ln w="10636">
            <a:solidFill>
              <a:srgbClr val="93CFA9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00758" y="4927745"/>
            <a:ext cx="1785461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4272F"/>
                </a:solidFill>
                <a:ea typeface="Helvetica" pitchFamily="34" charset="-122"/>
                <a:cs typeface="Arial" panose="020B0604020202020204" pitchFamily="34" charset="0"/>
              </a:rPr>
              <a:t>Reconciliation service</a:t>
            </a:r>
            <a:endParaRPr lang="en-US" sz="1275" dirty="0"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97925" y="5175078"/>
            <a:ext cx="1333500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W3C / OpenRefine API</a:t>
            </a:r>
            <a:endParaRPr lang="en-US" sz="900" dirty="0"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122516" y="4624063"/>
            <a:ext cx="2667000" cy="1028700"/>
          </a:xfrm>
          <a:prstGeom prst="roundRect">
            <a:avLst>
              <a:gd name="adj" fmla="val 12963"/>
            </a:avLst>
          </a:prstGeom>
          <a:solidFill>
            <a:srgbClr val="FDF1E3"/>
          </a:solidFill>
          <a:ln w="10636">
            <a:solidFill>
              <a:srgbClr val="ECC188"/>
            </a:solidFill>
            <a:prstDash val="solid"/>
          </a:ln>
        </p:spPr>
        <p:txBody>
          <a:bodyPr/>
          <a:lstStyle/>
          <a:p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22274" y="4927434"/>
            <a:ext cx="1467326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4272F"/>
                </a:solidFill>
                <a:ea typeface="Helvetica" pitchFamily="34" charset="-122"/>
                <a:cs typeface="Arial" panose="020B0604020202020204" pitchFamily="34" charset="0"/>
              </a:rPr>
              <a:t>SPARQL endpoint</a:t>
            </a:r>
            <a:endParaRPr lang="en-US" sz="1275" dirty="0"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946429" y="5195087"/>
            <a:ext cx="1019175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Knowledge graph</a:t>
            </a:r>
            <a:endParaRPr lang="en-US" sz="900" dirty="0"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C8A4649-1ECB-97C5-F7CB-D9E24610056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905499" y="1014571"/>
            <a:ext cx="1" cy="609052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DABBAA5-9865-A273-4C4E-406D68D3842D}"/>
              </a:ext>
            </a:extLst>
          </p:cNvPr>
          <p:cNvCxnSpPr>
            <a:cxnSpLocks/>
            <a:stCxn id="11" idx="2"/>
            <a:endCxn id="35" idx="0"/>
          </p:cNvCxnSpPr>
          <p:nvPr/>
        </p:nvCxnSpPr>
        <p:spPr>
          <a:xfrm>
            <a:off x="2461186" y="3795871"/>
            <a:ext cx="689280" cy="809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4A91CE4-AD3E-A631-A807-7F5E9ED6F6B7}"/>
              </a:ext>
            </a:extLst>
          </p:cNvPr>
          <p:cNvCxnSpPr>
            <a:cxnSpLocks/>
            <a:stCxn id="15" idx="2"/>
            <a:endCxn id="35" idx="0"/>
          </p:cNvCxnSpPr>
          <p:nvPr/>
        </p:nvCxnSpPr>
        <p:spPr>
          <a:xfrm flipH="1">
            <a:off x="3150466" y="3793474"/>
            <a:ext cx="858208" cy="812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5FFEF7-E556-2457-B7E9-838486CC4574}"/>
              </a:ext>
            </a:extLst>
          </p:cNvPr>
          <p:cNvCxnSpPr>
            <a:cxnSpLocks/>
            <a:stCxn id="23" idx="2"/>
            <a:endCxn id="38" idx="0"/>
          </p:cNvCxnSpPr>
          <p:nvPr/>
        </p:nvCxnSpPr>
        <p:spPr>
          <a:xfrm flipH="1">
            <a:off x="5758672" y="3795871"/>
            <a:ext cx="1305701" cy="82758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5EEC95-FE8A-631A-B372-4E98FA131AC2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>
            <a:off x="8588214" y="3763471"/>
            <a:ext cx="867802" cy="86059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4EFAC8B-2AC9-E593-9AB1-C2EDE03C8194}"/>
              </a:ext>
            </a:extLst>
          </p:cNvPr>
          <p:cNvSpPr txBox="1"/>
          <p:nvPr/>
        </p:nvSpPr>
        <p:spPr>
          <a:xfrm>
            <a:off x="5949520" y="1058720"/>
            <a:ext cx="1340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MCP transport</a:t>
            </a:r>
          </a:p>
          <a:p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Stdio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| HTTP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33777F-7806-5751-F038-C809152A2A48}"/>
              </a:ext>
            </a:extLst>
          </p:cNvPr>
          <p:cNvSpPr txBox="1"/>
          <p:nvPr/>
        </p:nvSpPr>
        <p:spPr>
          <a:xfrm>
            <a:off x="2736957" y="4033035"/>
            <a:ext cx="92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Read model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B2D088-023D-43D4-32EF-DD351DCCE7D4}"/>
              </a:ext>
            </a:extLst>
          </p:cNvPr>
          <p:cNvSpPr txBox="1"/>
          <p:nvPr/>
        </p:nvSpPr>
        <p:spPr>
          <a:xfrm>
            <a:off x="6323417" y="4165878"/>
            <a:ext cx="781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Reconcile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A70DEF-44B9-739A-39E1-E7ACCE6BDE97}"/>
              </a:ext>
            </a:extLst>
          </p:cNvPr>
          <p:cNvSpPr txBox="1"/>
          <p:nvPr/>
        </p:nvSpPr>
        <p:spPr>
          <a:xfrm>
            <a:off x="9119673" y="4142054"/>
            <a:ext cx="672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680875-DA33-054E-F670-4DE0EAB107DD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>
            <a:off x="6923103" y="5137803"/>
            <a:ext cx="1199413" cy="61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Shape 36">
            <a:extLst>
              <a:ext uri="{FF2B5EF4-FFF2-40B4-BE49-F238E27FC236}">
                <a16:creationId xmlns:a16="http://schemas.microsoft.com/office/drawing/2014/main" id="{0DC169B5-0C9A-3086-224D-27B0607BA3A5}"/>
              </a:ext>
            </a:extLst>
          </p:cNvPr>
          <p:cNvSpPr/>
          <p:nvPr/>
        </p:nvSpPr>
        <p:spPr>
          <a:xfrm>
            <a:off x="4059272" y="6170365"/>
            <a:ext cx="1827007" cy="617574"/>
          </a:xfrm>
          <a:prstGeom prst="roundRect">
            <a:avLst>
              <a:gd name="adj" fmla="val 12963"/>
            </a:avLst>
          </a:prstGeom>
          <a:solidFill>
            <a:srgbClr val="E8F6EE"/>
          </a:solidFill>
          <a:ln w="10636">
            <a:solidFill>
              <a:srgbClr val="93CFA9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8142FB38-32C6-B619-15E3-BBE862F229F0}"/>
              </a:ext>
            </a:extLst>
          </p:cNvPr>
          <p:cNvSpPr/>
          <p:nvPr/>
        </p:nvSpPr>
        <p:spPr>
          <a:xfrm>
            <a:off x="6150869" y="6165893"/>
            <a:ext cx="1827007" cy="617574"/>
          </a:xfrm>
          <a:prstGeom prst="roundRect">
            <a:avLst>
              <a:gd name="adj" fmla="val 12963"/>
            </a:avLst>
          </a:prstGeom>
          <a:solidFill>
            <a:srgbClr val="E8F6EE"/>
          </a:solidFill>
          <a:ln w="10636">
            <a:solidFill>
              <a:srgbClr val="93CFA9"/>
            </a:solidFill>
            <a:prstDash val="solid"/>
          </a:ln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CADF01C9-E754-70C0-80E5-1887727DE316}"/>
              </a:ext>
            </a:extLst>
          </p:cNvPr>
          <p:cNvSpPr/>
          <p:nvPr/>
        </p:nvSpPr>
        <p:spPr>
          <a:xfrm>
            <a:off x="8249362" y="6153225"/>
            <a:ext cx="1827007" cy="617574"/>
          </a:xfrm>
          <a:prstGeom prst="roundRect">
            <a:avLst>
              <a:gd name="adj" fmla="val 12963"/>
            </a:avLst>
          </a:prstGeom>
          <a:solidFill>
            <a:srgbClr val="E8F6EE"/>
          </a:solidFill>
          <a:ln w="10636">
            <a:solidFill>
              <a:srgbClr val="93CFA9"/>
            </a:solidFill>
            <a:prstDash val="solid"/>
          </a:ln>
        </p:spPr>
        <p:txBody>
          <a:bodyPr/>
          <a:lstStyle/>
          <a:p>
            <a:endParaRPr lang="en-US" dirty="0"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2731E5-2589-EC66-5371-ACFCCD890244}"/>
              </a:ext>
            </a:extLst>
          </p:cNvPr>
          <p:cNvCxnSpPr>
            <a:cxnSpLocks/>
            <a:stCxn id="38" idx="2"/>
            <a:endCxn id="59" idx="0"/>
          </p:cNvCxnSpPr>
          <p:nvPr/>
        </p:nvCxnSpPr>
        <p:spPr>
          <a:xfrm flipH="1">
            <a:off x="4972776" y="5652153"/>
            <a:ext cx="785896" cy="5182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EF47908-F768-2C8C-4EF0-0ADDE0BAE9C6}"/>
              </a:ext>
            </a:extLst>
          </p:cNvPr>
          <p:cNvCxnSpPr>
            <a:cxnSpLocks/>
            <a:stCxn id="38" idx="2"/>
            <a:endCxn id="60" idx="0"/>
          </p:cNvCxnSpPr>
          <p:nvPr/>
        </p:nvCxnSpPr>
        <p:spPr>
          <a:xfrm>
            <a:off x="5758672" y="5652153"/>
            <a:ext cx="1305701" cy="5137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090CB12-40CC-1A7B-5A10-F14220A5E4DD}"/>
              </a:ext>
            </a:extLst>
          </p:cNvPr>
          <p:cNvCxnSpPr>
            <a:cxnSpLocks/>
            <a:stCxn id="38" idx="2"/>
            <a:endCxn id="62" idx="0"/>
          </p:cNvCxnSpPr>
          <p:nvPr/>
        </p:nvCxnSpPr>
        <p:spPr>
          <a:xfrm>
            <a:off x="5758672" y="5652153"/>
            <a:ext cx="3404194" cy="50107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Text 37">
            <a:extLst>
              <a:ext uri="{FF2B5EF4-FFF2-40B4-BE49-F238E27FC236}">
                <a16:creationId xmlns:a16="http://schemas.microsoft.com/office/drawing/2014/main" id="{A6C9880E-7B27-EB32-47E2-08B882CC9ADE}"/>
              </a:ext>
            </a:extLst>
          </p:cNvPr>
          <p:cNvSpPr/>
          <p:nvPr/>
        </p:nvSpPr>
        <p:spPr>
          <a:xfrm>
            <a:off x="6172456" y="6353547"/>
            <a:ext cx="1785461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1200" b="1" dirty="0"/>
              <a:t>existing API</a:t>
            </a:r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085A3915-B661-B34D-2C10-DF8AB9EB09D7}"/>
              </a:ext>
            </a:extLst>
          </p:cNvPr>
          <p:cNvSpPr/>
          <p:nvPr/>
        </p:nvSpPr>
        <p:spPr>
          <a:xfrm>
            <a:off x="8242466" y="6256032"/>
            <a:ext cx="1785461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1200" b="1" dirty="0"/>
              <a:t>custom-built</a:t>
            </a:r>
          </a:p>
          <a:p>
            <a:pPr algn="ctr"/>
            <a:r>
              <a:rPr lang="en-US" sz="1200" b="1" dirty="0"/>
              <a:t>Search Index</a:t>
            </a:r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64DC2103-234E-9118-857F-E6BC5BDD366F}"/>
              </a:ext>
            </a:extLst>
          </p:cNvPr>
          <p:cNvSpPr/>
          <p:nvPr/>
        </p:nvSpPr>
        <p:spPr>
          <a:xfrm>
            <a:off x="4093922" y="6280796"/>
            <a:ext cx="1785461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1200" b="1" dirty="0"/>
              <a:t>full-text indexing</a:t>
            </a:r>
          </a:p>
          <a:p>
            <a:pPr marL="0" indent="0" algn="ctr">
              <a:buNone/>
            </a:pPr>
            <a:endParaRPr lang="en-US" sz="1200" b="1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6BA82-EE9F-151C-BD68-71743D1D908F}"/>
              </a:ext>
            </a:extLst>
          </p:cNvPr>
          <p:cNvSpPr txBox="1"/>
          <p:nvPr/>
        </p:nvSpPr>
        <p:spPr>
          <a:xfrm>
            <a:off x="6923103" y="4888114"/>
            <a:ext cx="11977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SPARQL-based search</a:t>
            </a:r>
          </a:p>
        </p:txBody>
      </p:sp>
      <p:sp>
        <p:nvSpPr>
          <p:cNvPr id="32" name="Text 38">
            <a:extLst>
              <a:ext uri="{FF2B5EF4-FFF2-40B4-BE49-F238E27FC236}">
                <a16:creationId xmlns:a16="http://schemas.microsoft.com/office/drawing/2014/main" id="{C2E97AB2-766A-B6C1-617B-D599247D9EA8}"/>
              </a:ext>
            </a:extLst>
          </p:cNvPr>
          <p:cNvSpPr/>
          <p:nvPr/>
        </p:nvSpPr>
        <p:spPr>
          <a:xfrm>
            <a:off x="4306026" y="6472643"/>
            <a:ext cx="1333500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>
              <a:lnSpc>
                <a:spcPct val="135000"/>
              </a:lnSpc>
            </a:pPr>
            <a:r>
              <a:rPr lang="en-US" sz="900" dirty="0" err="1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Triplestore's</a:t>
            </a:r>
            <a:r>
              <a:rPr lang="en-US" sz="900" dirty="0">
                <a:solidFill>
                  <a:srgbClr val="6F7682"/>
                </a:solidFill>
                <a:ea typeface="Courier New" pitchFamily="34" charset="-122"/>
                <a:cs typeface="Arial" panose="020B0604020202020204" pitchFamily="34" charset="0"/>
              </a:rPr>
              <a:t> proprietary</a:t>
            </a:r>
            <a:endParaRPr lang="en-US" sz="9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0">
            <a:extLst>
              <a:ext uri="{FF2B5EF4-FFF2-40B4-BE49-F238E27FC236}">
                <a16:creationId xmlns:a16="http://schemas.microsoft.com/office/drawing/2014/main" id="{B5676E2E-3502-6ADE-6473-C43F3CAFCDA8}"/>
              </a:ext>
            </a:extLst>
          </p:cNvPr>
          <p:cNvSpPr/>
          <p:nvPr/>
        </p:nvSpPr>
        <p:spPr>
          <a:xfrm>
            <a:off x="1990204" y="272365"/>
            <a:ext cx="1441494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62" name="Shape 1">
            <a:extLst>
              <a:ext uri="{FF2B5EF4-FFF2-40B4-BE49-F238E27FC236}">
                <a16:creationId xmlns:a16="http://schemas.microsoft.com/office/drawing/2014/main" id="{1E7CEE45-93D2-7D07-90C7-1CA35D3B061B}"/>
              </a:ext>
            </a:extLst>
          </p:cNvPr>
          <p:cNvSpPr/>
          <p:nvPr/>
        </p:nvSpPr>
        <p:spPr>
          <a:xfrm>
            <a:off x="955642" y="607031"/>
            <a:ext cx="18000" cy="5923423"/>
          </a:xfrm>
          <a:prstGeom prst="rect">
            <a:avLst/>
          </a:prstGeom>
          <a:solidFill>
            <a:srgbClr val="CFCFD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DACFBC36-3053-5EC2-311F-801318C2970D}"/>
              </a:ext>
            </a:extLst>
          </p:cNvPr>
          <p:cNvSpPr/>
          <p:nvPr/>
        </p:nvSpPr>
        <p:spPr>
          <a:xfrm>
            <a:off x="2690998" y="712644"/>
            <a:ext cx="18000" cy="5923423"/>
          </a:xfrm>
          <a:prstGeom prst="rect">
            <a:avLst/>
          </a:prstGeom>
          <a:solidFill>
            <a:srgbClr val="CFCFD8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B8D12FE2-8ED2-4EC2-3B25-BF67C25B7ECE}"/>
              </a:ext>
            </a:extLst>
          </p:cNvPr>
          <p:cNvSpPr/>
          <p:nvPr/>
        </p:nvSpPr>
        <p:spPr>
          <a:xfrm>
            <a:off x="5826929" y="717097"/>
            <a:ext cx="18000" cy="5923423"/>
          </a:xfrm>
          <a:prstGeom prst="rect">
            <a:avLst/>
          </a:prstGeom>
          <a:solidFill>
            <a:srgbClr val="CFCFD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92876D77-0349-8FB1-4EC6-CC913B9B7AC5}"/>
              </a:ext>
            </a:extLst>
          </p:cNvPr>
          <p:cNvSpPr/>
          <p:nvPr/>
        </p:nvSpPr>
        <p:spPr>
          <a:xfrm>
            <a:off x="8426712" y="712860"/>
            <a:ext cx="18000" cy="5923423"/>
          </a:xfrm>
          <a:prstGeom prst="rect">
            <a:avLst/>
          </a:prstGeom>
          <a:solidFill>
            <a:srgbClr val="CFCFD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175CD33B-0D6A-06F7-4027-4F58457A242D}"/>
              </a:ext>
            </a:extLst>
          </p:cNvPr>
          <p:cNvSpPr/>
          <p:nvPr/>
        </p:nvSpPr>
        <p:spPr>
          <a:xfrm>
            <a:off x="10479172" y="607031"/>
            <a:ext cx="18000" cy="5923423"/>
          </a:xfrm>
          <a:prstGeom prst="rect">
            <a:avLst/>
          </a:prstGeom>
          <a:solidFill>
            <a:srgbClr val="CFCFD8"/>
          </a:solidFill>
          <a:ln/>
        </p:spPr>
        <p:txBody>
          <a:bodyPr/>
          <a:lstStyle/>
          <a:p>
            <a:endParaRPr lang="en-US" sz="1200"/>
          </a:p>
        </p:txBody>
      </p:sp>
      <p:pic>
        <p:nvPicPr>
          <p:cNvPr id="67" name="Image 0" descr="preencoded.png">
            <a:extLst>
              <a:ext uri="{FF2B5EF4-FFF2-40B4-BE49-F238E27FC236}">
                <a16:creationId xmlns:a16="http://schemas.microsoft.com/office/drawing/2014/main" id="{F6540102-273C-9A6C-C829-35D42B74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62" y="157215"/>
            <a:ext cx="150514" cy="205088"/>
          </a:xfrm>
          <a:prstGeom prst="rect">
            <a:avLst/>
          </a:prstGeom>
        </p:spPr>
      </p:pic>
      <p:sp>
        <p:nvSpPr>
          <p:cNvPr id="68" name="Text 6">
            <a:extLst>
              <a:ext uri="{FF2B5EF4-FFF2-40B4-BE49-F238E27FC236}">
                <a16:creationId xmlns:a16="http://schemas.microsoft.com/office/drawing/2014/main" id="{D9D63516-4D5A-9270-86FF-5FDFC4FC3A9F}"/>
              </a:ext>
            </a:extLst>
          </p:cNvPr>
          <p:cNvSpPr/>
          <p:nvPr/>
        </p:nvSpPr>
        <p:spPr>
          <a:xfrm>
            <a:off x="780498" y="380399"/>
            <a:ext cx="358154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User</a:t>
            </a:r>
            <a:endParaRPr lang="en-US" sz="1200" dirty="0"/>
          </a:p>
        </p:txBody>
      </p:sp>
      <p:pic>
        <p:nvPicPr>
          <p:cNvPr id="69" name="Image 1" descr="preencoded.png">
            <a:extLst>
              <a:ext uri="{FF2B5EF4-FFF2-40B4-BE49-F238E27FC236}">
                <a16:creationId xmlns:a16="http://schemas.microsoft.com/office/drawing/2014/main" id="{ADE8C653-BDD9-AC70-0377-E936A1C44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62" y="6614902"/>
            <a:ext cx="150514" cy="205088"/>
          </a:xfrm>
          <a:prstGeom prst="rect">
            <a:avLst/>
          </a:prstGeom>
        </p:spPr>
      </p:pic>
      <p:sp>
        <p:nvSpPr>
          <p:cNvPr id="70" name="Text 7">
            <a:extLst>
              <a:ext uri="{FF2B5EF4-FFF2-40B4-BE49-F238E27FC236}">
                <a16:creationId xmlns:a16="http://schemas.microsoft.com/office/drawing/2014/main" id="{8C23CB7E-0DAC-4B56-9DC0-EC3EA366AB42}"/>
              </a:ext>
            </a:extLst>
          </p:cNvPr>
          <p:cNvSpPr/>
          <p:nvPr/>
        </p:nvSpPr>
        <p:spPr>
          <a:xfrm>
            <a:off x="780498" y="6838086"/>
            <a:ext cx="358154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User</a:t>
            </a:r>
            <a:endParaRPr lang="en-US" sz="1200" dirty="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D4EEA2E7-ED99-80C3-C424-B68AC7B7DC36}"/>
              </a:ext>
            </a:extLst>
          </p:cNvPr>
          <p:cNvSpPr/>
          <p:nvPr/>
        </p:nvSpPr>
        <p:spPr>
          <a:xfrm>
            <a:off x="2101257" y="354391"/>
            <a:ext cx="1164657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MCP client (LLM)</a:t>
            </a:r>
            <a:endParaRPr lang="en-US" sz="1200" dirty="0"/>
          </a:p>
        </p:txBody>
      </p:sp>
      <p:sp>
        <p:nvSpPr>
          <p:cNvPr id="72" name="Shape 10">
            <a:extLst>
              <a:ext uri="{FF2B5EF4-FFF2-40B4-BE49-F238E27FC236}">
                <a16:creationId xmlns:a16="http://schemas.microsoft.com/office/drawing/2014/main" id="{255E9111-868B-8A50-4915-D38FF718555A}"/>
              </a:ext>
            </a:extLst>
          </p:cNvPr>
          <p:cNvSpPr/>
          <p:nvPr/>
        </p:nvSpPr>
        <p:spPr>
          <a:xfrm>
            <a:off x="2011518" y="6639030"/>
            <a:ext cx="1441494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3" name="Text 11">
            <a:extLst>
              <a:ext uri="{FF2B5EF4-FFF2-40B4-BE49-F238E27FC236}">
                <a16:creationId xmlns:a16="http://schemas.microsoft.com/office/drawing/2014/main" id="{09F538E7-3F79-6FAE-1AEF-42731CFF42AD}"/>
              </a:ext>
            </a:extLst>
          </p:cNvPr>
          <p:cNvSpPr/>
          <p:nvPr/>
        </p:nvSpPr>
        <p:spPr>
          <a:xfrm>
            <a:off x="2101257" y="6712118"/>
            <a:ext cx="1164657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MCP client (LLM)</a:t>
            </a:r>
            <a:endParaRPr lang="en-US" sz="1200" dirty="0"/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206F1211-81CC-C7FA-F1C1-735AD083ABF4}"/>
              </a:ext>
            </a:extLst>
          </p:cNvPr>
          <p:cNvSpPr/>
          <p:nvPr/>
        </p:nvSpPr>
        <p:spPr>
          <a:xfrm>
            <a:off x="4860561" y="281303"/>
            <a:ext cx="1984044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080B5005-53BD-52D5-FAE1-5544F206C17D}"/>
              </a:ext>
            </a:extLst>
          </p:cNvPr>
          <p:cNvSpPr/>
          <p:nvPr/>
        </p:nvSpPr>
        <p:spPr>
          <a:xfrm>
            <a:off x="4948562" y="354391"/>
            <a:ext cx="1764258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MCP-over-SPARQL server</a:t>
            </a:r>
            <a:endParaRPr lang="en-US" sz="1200" dirty="0"/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78D12A9C-11CF-5165-1C58-46234CE87AF8}"/>
              </a:ext>
            </a:extLst>
          </p:cNvPr>
          <p:cNvSpPr/>
          <p:nvPr/>
        </p:nvSpPr>
        <p:spPr>
          <a:xfrm>
            <a:off x="4860561" y="6639030"/>
            <a:ext cx="1984044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A3E08243-8892-4F2F-34E9-7B4F97CDCC6D}"/>
              </a:ext>
            </a:extLst>
          </p:cNvPr>
          <p:cNvSpPr/>
          <p:nvPr/>
        </p:nvSpPr>
        <p:spPr>
          <a:xfrm>
            <a:off x="4948562" y="6712118"/>
            <a:ext cx="1764258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MCP-over-SPARQL server</a:t>
            </a:r>
            <a:endParaRPr lang="en-US" sz="1200" dirty="0"/>
          </a:p>
        </p:txBody>
      </p:sp>
      <p:sp>
        <p:nvSpPr>
          <p:cNvPr id="78" name="Shape 16">
            <a:extLst>
              <a:ext uri="{FF2B5EF4-FFF2-40B4-BE49-F238E27FC236}">
                <a16:creationId xmlns:a16="http://schemas.microsoft.com/office/drawing/2014/main" id="{099E053E-7B88-1462-7463-F998BD17870A}"/>
              </a:ext>
            </a:extLst>
          </p:cNvPr>
          <p:cNvSpPr/>
          <p:nvPr/>
        </p:nvSpPr>
        <p:spPr>
          <a:xfrm>
            <a:off x="7858180" y="281303"/>
            <a:ext cx="1159524" cy="421536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AF27F2B9-9B60-8185-C74C-AF725AF6485E}"/>
              </a:ext>
            </a:extLst>
          </p:cNvPr>
          <p:cNvSpPr/>
          <p:nvPr/>
        </p:nvSpPr>
        <p:spPr>
          <a:xfrm>
            <a:off x="7947918" y="354391"/>
            <a:ext cx="965112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SHACL model</a:t>
            </a:r>
            <a:endParaRPr lang="en-US" sz="1200" dirty="0"/>
          </a:p>
        </p:txBody>
      </p:sp>
      <p:sp>
        <p:nvSpPr>
          <p:cNvPr id="80" name="Shape 18">
            <a:extLst>
              <a:ext uri="{FF2B5EF4-FFF2-40B4-BE49-F238E27FC236}">
                <a16:creationId xmlns:a16="http://schemas.microsoft.com/office/drawing/2014/main" id="{E8C44A08-C177-973A-789F-AEA7B6D68A33}"/>
              </a:ext>
            </a:extLst>
          </p:cNvPr>
          <p:cNvSpPr/>
          <p:nvPr/>
        </p:nvSpPr>
        <p:spPr>
          <a:xfrm>
            <a:off x="7858180" y="6639030"/>
            <a:ext cx="1159524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0A3CA234-688A-0876-BA65-889E6BED5EAF}"/>
              </a:ext>
            </a:extLst>
          </p:cNvPr>
          <p:cNvSpPr/>
          <p:nvPr/>
        </p:nvSpPr>
        <p:spPr>
          <a:xfrm>
            <a:off x="7947918" y="6712118"/>
            <a:ext cx="965112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SHACL model</a:t>
            </a:r>
            <a:endParaRPr lang="en-US" sz="1200" dirty="0"/>
          </a:p>
        </p:txBody>
      </p:sp>
      <p:sp>
        <p:nvSpPr>
          <p:cNvPr id="82" name="Shape 20">
            <a:extLst>
              <a:ext uri="{FF2B5EF4-FFF2-40B4-BE49-F238E27FC236}">
                <a16:creationId xmlns:a16="http://schemas.microsoft.com/office/drawing/2014/main" id="{88F8B348-5C09-8050-BAE3-5440F100E45B}"/>
              </a:ext>
            </a:extLst>
          </p:cNvPr>
          <p:cNvSpPr/>
          <p:nvPr/>
        </p:nvSpPr>
        <p:spPr>
          <a:xfrm>
            <a:off x="9784071" y="281303"/>
            <a:ext cx="1397726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4F6812A2-8E92-9A21-F7D7-1D15E02ABC82}"/>
              </a:ext>
            </a:extLst>
          </p:cNvPr>
          <p:cNvSpPr/>
          <p:nvPr/>
        </p:nvSpPr>
        <p:spPr>
          <a:xfrm>
            <a:off x="9873809" y="354391"/>
            <a:ext cx="1218249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SPARQL endpoint</a:t>
            </a:r>
            <a:endParaRPr lang="en-US" sz="1200" dirty="0"/>
          </a:p>
        </p:txBody>
      </p:sp>
      <p:sp>
        <p:nvSpPr>
          <p:cNvPr id="84" name="Shape 22">
            <a:extLst>
              <a:ext uri="{FF2B5EF4-FFF2-40B4-BE49-F238E27FC236}">
                <a16:creationId xmlns:a16="http://schemas.microsoft.com/office/drawing/2014/main" id="{54856B02-13C1-DE94-35AF-00A1FB52E521}"/>
              </a:ext>
            </a:extLst>
          </p:cNvPr>
          <p:cNvSpPr/>
          <p:nvPr/>
        </p:nvSpPr>
        <p:spPr>
          <a:xfrm>
            <a:off x="9725023" y="6639030"/>
            <a:ext cx="1456774" cy="428272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0636">
            <a:solidFill>
              <a:srgbClr val="9AA0C4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85" name="Text 23">
            <a:extLst>
              <a:ext uri="{FF2B5EF4-FFF2-40B4-BE49-F238E27FC236}">
                <a16:creationId xmlns:a16="http://schemas.microsoft.com/office/drawing/2014/main" id="{8BBE1435-4C3D-991F-AF45-47751E37E010}"/>
              </a:ext>
            </a:extLst>
          </p:cNvPr>
          <p:cNvSpPr/>
          <p:nvPr/>
        </p:nvSpPr>
        <p:spPr>
          <a:xfrm>
            <a:off x="9873809" y="6712118"/>
            <a:ext cx="1218249" cy="17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C"/>
                </a:solidFill>
                <a:ea typeface="Helvetica" pitchFamily="34" charset="-122"/>
                <a:cs typeface="Helvetica" pitchFamily="34" charset="-120"/>
              </a:rPr>
              <a:t>SPARQL endpoint</a:t>
            </a:r>
            <a:endParaRPr lang="en-US" sz="1200" dirty="0"/>
          </a:p>
        </p:txBody>
      </p:sp>
      <p:sp>
        <p:nvSpPr>
          <p:cNvPr id="87" name="Text 25">
            <a:extLst>
              <a:ext uri="{FF2B5EF4-FFF2-40B4-BE49-F238E27FC236}">
                <a16:creationId xmlns:a16="http://schemas.microsoft.com/office/drawing/2014/main" id="{E8DFA006-802B-6B88-8F3D-72A21A34104F}"/>
              </a:ext>
            </a:extLst>
          </p:cNvPr>
          <p:cNvSpPr/>
          <p:nvPr/>
        </p:nvSpPr>
        <p:spPr>
          <a:xfrm>
            <a:off x="992869" y="818170"/>
            <a:ext cx="1842083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natural-language question</a:t>
            </a:r>
            <a:endParaRPr lang="en-US" sz="1200" dirty="0"/>
          </a:p>
        </p:txBody>
      </p:sp>
      <p:sp>
        <p:nvSpPr>
          <p:cNvPr id="89" name="Text 27">
            <a:extLst>
              <a:ext uri="{FF2B5EF4-FFF2-40B4-BE49-F238E27FC236}">
                <a16:creationId xmlns:a16="http://schemas.microsoft.com/office/drawing/2014/main" id="{02542046-C185-2916-3C81-3673C72AD994}"/>
              </a:ext>
            </a:extLst>
          </p:cNvPr>
          <p:cNvSpPr/>
          <p:nvPr/>
        </p:nvSpPr>
        <p:spPr>
          <a:xfrm>
            <a:off x="3720989" y="1111280"/>
            <a:ext cx="1305822" cy="183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schema_overview</a:t>
            </a:r>
            <a:endParaRPr lang="en-US" sz="1200" dirty="0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4293723C-BFF5-EEAA-D444-291A6EA98A38}"/>
              </a:ext>
            </a:extLst>
          </p:cNvPr>
          <p:cNvSpPr/>
          <p:nvPr/>
        </p:nvSpPr>
        <p:spPr>
          <a:xfrm>
            <a:off x="6777675" y="1412302"/>
            <a:ext cx="769673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read model</a:t>
            </a:r>
            <a:endParaRPr lang="en-US" sz="1200" dirty="0"/>
          </a:p>
        </p:txBody>
      </p:sp>
      <p:sp>
        <p:nvSpPr>
          <p:cNvPr id="93" name="Text 31">
            <a:extLst>
              <a:ext uri="{FF2B5EF4-FFF2-40B4-BE49-F238E27FC236}">
                <a16:creationId xmlns:a16="http://schemas.microsoft.com/office/drawing/2014/main" id="{2F48236D-FFA6-E670-64F6-DA501941C395}"/>
              </a:ext>
            </a:extLst>
          </p:cNvPr>
          <p:cNvSpPr/>
          <p:nvPr/>
        </p:nvSpPr>
        <p:spPr>
          <a:xfrm>
            <a:off x="3542198" y="1805388"/>
            <a:ext cx="1484613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high-level synthesis</a:t>
            </a:r>
            <a:endParaRPr lang="en-US" sz="1200" dirty="0"/>
          </a:p>
        </p:txBody>
      </p:sp>
      <p:sp>
        <p:nvSpPr>
          <p:cNvPr id="95" name="Text 33">
            <a:extLst>
              <a:ext uri="{FF2B5EF4-FFF2-40B4-BE49-F238E27FC236}">
                <a16:creationId xmlns:a16="http://schemas.microsoft.com/office/drawing/2014/main" id="{8D027A34-39B3-EAAF-6959-3A4FD46F51E7}"/>
              </a:ext>
            </a:extLst>
          </p:cNvPr>
          <p:cNvSpPr/>
          <p:nvPr/>
        </p:nvSpPr>
        <p:spPr>
          <a:xfrm>
            <a:off x="3792370" y="2119052"/>
            <a:ext cx="984155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get_few_shots</a:t>
            </a:r>
            <a:endParaRPr lang="en-US" sz="1200" dirty="0"/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F9BCC443-F364-98CB-4088-F44AF5C90672}"/>
              </a:ext>
            </a:extLst>
          </p:cNvPr>
          <p:cNvSpPr/>
          <p:nvPr/>
        </p:nvSpPr>
        <p:spPr>
          <a:xfrm>
            <a:off x="3685186" y="2432716"/>
            <a:ext cx="1198637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curated examples</a:t>
            </a:r>
            <a:endParaRPr lang="en-US" sz="1200" dirty="0"/>
          </a:p>
        </p:txBody>
      </p:sp>
      <p:sp>
        <p:nvSpPr>
          <p:cNvPr id="99" name="Text 37">
            <a:extLst>
              <a:ext uri="{FF2B5EF4-FFF2-40B4-BE49-F238E27FC236}">
                <a16:creationId xmlns:a16="http://schemas.microsoft.com/office/drawing/2014/main" id="{79256E07-1DFE-6ED2-4767-3A73B379E184}"/>
              </a:ext>
            </a:extLst>
          </p:cNvPr>
          <p:cNvSpPr/>
          <p:nvPr/>
        </p:nvSpPr>
        <p:spPr>
          <a:xfrm>
            <a:off x="3292026" y="2746380"/>
            <a:ext cx="1988249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discover_nodeshapes(shapes)</a:t>
            </a:r>
            <a:endParaRPr lang="en-US" sz="1200" dirty="0"/>
          </a:p>
        </p:txBody>
      </p:sp>
      <p:sp>
        <p:nvSpPr>
          <p:cNvPr id="101" name="Text 39">
            <a:extLst>
              <a:ext uri="{FF2B5EF4-FFF2-40B4-BE49-F238E27FC236}">
                <a16:creationId xmlns:a16="http://schemas.microsoft.com/office/drawing/2014/main" id="{B1C1AEBA-4CF8-E979-CC7E-DB3186039840}"/>
              </a:ext>
            </a:extLst>
          </p:cNvPr>
          <p:cNvSpPr/>
          <p:nvPr/>
        </p:nvSpPr>
        <p:spPr>
          <a:xfrm>
            <a:off x="6382266" y="2974252"/>
            <a:ext cx="1627601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read shape definitions</a:t>
            </a:r>
            <a:endParaRPr lang="en-US" sz="1200" dirty="0"/>
          </a:p>
        </p:txBody>
      </p:sp>
      <p:sp>
        <p:nvSpPr>
          <p:cNvPr id="103" name="Text 41">
            <a:extLst>
              <a:ext uri="{FF2B5EF4-FFF2-40B4-BE49-F238E27FC236}">
                <a16:creationId xmlns:a16="http://schemas.microsoft.com/office/drawing/2014/main" id="{5143491A-2599-4AE1-C7AA-E8FFFCBDE051}"/>
              </a:ext>
            </a:extLst>
          </p:cNvPr>
          <p:cNvSpPr/>
          <p:nvPr/>
        </p:nvSpPr>
        <p:spPr>
          <a:xfrm>
            <a:off x="3008102" y="3316755"/>
            <a:ext cx="3387388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predicates, cardinalities, sh:agentInstruction</a:t>
            </a:r>
            <a:endParaRPr lang="en-US" sz="1200" dirty="0"/>
          </a:p>
        </p:txBody>
      </p:sp>
      <p:sp>
        <p:nvSpPr>
          <p:cNvPr id="105" name="Text 43">
            <a:extLst>
              <a:ext uri="{FF2B5EF4-FFF2-40B4-BE49-F238E27FC236}">
                <a16:creationId xmlns:a16="http://schemas.microsoft.com/office/drawing/2014/main" id="{7A6B4312-D60C-B381-01B2-268C116B0E55}"/>
              </a:ext>
            </a:extLst>
          </p:cNvPr>
          <p:cNvSpPr/>
          <p:nvPr/>
        </p:nvSpPr>
        <p:spPr>
          <a:xfrm>
            <a:off x="3077429" y="3687372"/>
            <a:ext cx="2430082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reconcile_entities(labels, class)</a:t>
            </a:r>
            <a:endParaRPr lang="en-US" sz="1200" dirty="0"/>
          </a:p>
        </p:txBody>
      </p:sp>
      <p:sp>
        <p:nvSpPr>
          <p:cNvPr id="107" name="Text 45">
            <a:extLst>
              <a:ext uri="{FF2B5EF4-FFF2-40B4-BE49-F238E27FC236}">
                <a16:creationId xmlns:a16="http://schemas.microsoft.com/office/drawing/2014/main" id="{7015B9F0-ABFB-D5E2-2C51-0962BE955501}"/>
              </a:ext>
            </a:extLst>
          </p:cNvPr>
          <p:cNvSpPr/>
          <p:nvPr/>
        </p:nvSpPr>
        <p:spPr>
          <a:xfrm>
            <a:off x="2863061" y="4001036"/>
            <a:ext cx="2871915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candidate IRIs (reconciliation service)</a:t>
            </a:r>
            <a:endParaRPr lang="en-US" sz="1200" dirty="0"/>
          </a:p>
        </p:txBody>
      </p:sp>
      <p:sp>
        <p:nvSpPr>
          <p:cNvPr id="108" name="Shape 46">
            <a:extLst>
              <a:ext uri="{FF2B5EF4-FFF2-40B4-BE49-F238E27FC236}">
                <a16:creationId xmlns:a16="http://schemas.microsoft.com/office/drawing/2014/main" id="{46EB119C-7E5C-9419-D075-16E14B8E1659}"/>
              </a:ext>
            </a:extLst>
          </p:cNvPr>
          <p:cNvSpPr/>
          <p:nvPr/>
        </p:nvSpPr>
        <p:spPr>
          <a:xfrm>
            <a:off x="1830333" y="4363257"/>
            <a:ext cx="1657818" cy="311064"/>
          </a:xfrm>
          <a:prstGeom prst="roundRect">
            <a:avLst>
              <a:gd name="adj" fmla="val 9397"/>
            </a:avLst>
          </a:prstGeom>
          <a:solidFill>
            <a:srgbClr val="FFF4B8"/>
          </a:solidFill>
          <a:ln w="10636">
            <a:solidFill>
              <a:srgbClr val="D8C64E"/>
            </a:solidFill>
            <a:prstDash val="solid"/>
          </a:ln>
          <a:effectLst>
            <a:outerShdw blurRad="19050" dist="9525" dir="5400000" algn="bl" rotWithShape="0">
              <a:srgbClr val="282846">
                <a:alpha val="8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4A5206F2-B734-F646-CA49-6C8CEEF4E1AB}"/>
              </a:ext>
            </a:extLst>
          </p:cNvPr>
          <p:cNvSpPr/>
          <p:nvPr/>
        </p:nvSpPr>
        <p:spPr>
          <a:xfrm>
            <a:off x="1933753" y="4424281"/>
            <a:ext cx="1554397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423"/>
                </a:solidFill>
                <a:ea typeface="Helvetica" pitchFamily="34" charset="-122"/>
                <a:cs typeface="Helvetica" pitchFamily="34" charset="-120"/>
              </a:rPr>
              <a:t>build the SPARQL query</a:t>
            </a:r>
            <a:endParaRPr lang="en-US" sz="1200" dirty="0"/>
          </a:p>
        </p:txBody>
      </p:sp>
      <p:sp>
        <p:nvSpPr>
          <p:cNvPr id="111" name="Text 49">
            <a:extLst>
              <a:ext uri="{FF2B5EF4-FFF2-40B4-BE49-F238E27FC236}">
                <a16:creationId xmlns:a16="http://schemas.microsoft.com/office/drawing/2014/main" id="{CA711140-FFE9-9501-6BF0-A2A641B25012}"/>
              </a:ext>
            </a:extLst>
          </p:cNvPr>
          <p:cNvSpPr/>
          <p:nvPr/>
        </p:nvSpPr>
        <p:spPr>
          <a:xfrm>
            <a:off x="3578002" y="4555921"/>
            <a:ext cx="1657935" cy="183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query_sparql(query)</a:t>
            </a:r>
            <a:endParaRPr lang="en-US" sz="1200" dirty="0"/>
          </a:p>
        </p:txBody>
      </p:sp>
      <p:sp>
        <p:nvSpPr>
          <p:cNvPr id="113" name="Text 51">
            <a:extLst>
              <a:ext uri="{FF2B5EF4-FFF2-40B4-BE49-F238E27FC236}">
                <a16:creationId xmlns:a16="http://schemas.microsoft.com/office/drawing/2014/main" id="{FE870AC0-50FD-61FA-64CF-B2B903B62CDA}"/>
              </a:ext>
            </a:extLst>
          </p:cNvPr>
          <p:cNvSpPr/>
          <p:nvPr/>
        </p:nvSpPr>
        <p:spPr>
          <a:xfrm>
            <a:off x="7735826" y="4919157"/>
            <a:ext cx="1281878" cy="183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execute query</a:t>
            </a:r>
            <a:endParaRPr lang="en-US" sz="1200" dirty="0"/>
          </a:p>
        </p:txBody>
      </p:sp>
      <p:sp>
        <p:nvSpPr>
          <p:cNvPr id="115" name="Text 53">
            <a:extLst>
              <a:ext uri="{FF2B5EF4-FFF2-40B4-BE49-F238E27FC236}">
                <a16:creationId xmlns:a16="http://schemas.microsoft.com/office/drawing/2014/main" id="{401CB096-5403-0178-3487-1212F1D992A4}"/>
              </a:ext>
            </a:extLst>
          </p:cNvPr>
          <p:cNvSpPr/>
          <p:nvPr/>
        </p:nvSpPr>
        <p:spPr>
          <a:xfrm>
            <a:off x="7845634" y="5248956"/>
            <a:ext cx="1067396" cy="183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results</a:t>
            </a:r>
            <a:endParaRPr lang="en-US" sz="1200" dirty="0"/>
          </a:p>
        </p:txBody>
      </p:sp>
      <p:sp>
        <p:nvSpPr>
          <p:cNvPr id="117" name="Text 55">
            <a:extLst>
              <a:ext uri="{FF2B5EF4-FFF2-40B4-BE49-F238E27FC236}">
                <a16:creationId xmlns:a16="http://schemas.microsoft.com/office/drawing/2014/main" id="{E4B5BFED-7EBB-C506-8503-30CD2C206D37}"/>
              </a:ext>
            </a:extLst>
          </p:cNvPr>
          <p:cNvSpPr/>
          <p:nvPr/>
        </p:nvSpPr>
        <p:spPr>
          <a:xfrm>
            <a:off x="3578002" y="5569356"/>
            <a:ext cx="1702273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results (real data)</a:t>
            </a:r>
            <a:endParaRPr lang="en-US" sz="1200" dirty="0"/>
          </a:p>
        </p:txBody>
      </p:sp>
      <p:sp>
        <p:nvSpPr>
          <p:cNvPr id="119" name="Text 57">
            <a:extLst>
              <a:ext uri="{FF2B5EF4-FFF2-40B4-BE49-F238E27FC236}">
                <a16:creationId xmlns:a16="http://schemas.microsoft.com/office/drawing/2014/main" id="{B155B535-F935-67A4-5E59-D576A12397B1}"/>
              </a:ext>
            </a:extLst>
          </p:cNvPr>
          <p:cNvSpPr/>
          <p:nvPr/>
        </p:nvSpPr>
        <p:spPr>
          <a:xfrm>
            <a:off x="1217957" y="5907851"/>
            <a:ext cx="1341624" cy="15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44"/>
                </a:solidFill>
                <a:ea typeface="Courier New" pitchFamily="34" charset="-122"/>
                <a:cs typeface="Courier New" pitchFamily="34" charset="-120"/>
              </a:rPr>
              <a:t>answer (real data)</a:t>
            </a:r>
            <a:endParaRPr lang="en-US" sz="1200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8DEB9FC-5403-74E7-BF92-37C3D32722DA}"/>
              </a:ext>
            </a:extLst>
          </p:cNvPr>
          <p:cNvCxnSpPr>
            <a:cxnSpLocks/>
          </p:cNvCxnSpPr>
          <p:nvPr/>
        </p:nvCxnSpPr>
        <p:spPr>
          <a:xfrm flipV="1">
            <a:off x="959519" y="1060777"/>
            <a:ext cx="1731479" cy="179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DB0CF38-90FB-B7D2-D641-1E841F07CD04}"/>
              </a:ext>
            </a:extLst>
          </p:cNvPr>
          <p:cNvCxnSpPr>
            <a:cxnSpLocks/>
          </p:cNvCxnSpPr>
          <p:nvPr/>
        </p:nvCxnSpPr>
        <p:spPr>
          <a:xfrm>
            <a:off x="2698638" y="1341967"/>
            <a:ext cx="3139465" cy="625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01D2A7C-9946-5F2D-08D1-57967BCFD64A}"/>
              </a:ext>
            </a:extLst>
          </p:cNvPr>
          <p:cNvCxnSpPr>
            <a:cxnSpLocks/>
          </p:cNvCxnSpPr>
          <p:nvPr/>
        </p:nvCxnSpPr>
        <p:spPr>
          <a:xfrm flipH="1" flipV="1">
            <a:off x="2698638" y="2007130"/>
            <a:ext cx="3132053" cy="1577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4626788-E802-103C-7754-70767003F306}"/>
              </a:ext>
            </a:extLst>
          </p:cNvPr>
          <p:cNvCxnSpPr>
            <a:cxnSpLocks/>
          </p:cNvCxnSpPr>
          <p:nvPr/>
        </p:nvCxnSpPr>
        <p:spPr>
          <a:xfrm>
            <a:off x="5826929" y="1626514"/>
            <a:ext cx="2607423" cy="1033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57F9151-792A-B55B-FE6B-6B977D7CB1B7}"/>
              </a:ext>
            </a:extLst>
          </p:cNvPr>
          <p:cNvCxnSpPr>
            <a:cxnSpLocks/>
          </p:cNvCxnSpPr>
          <p:nvPr/>
        </p:nvCxnSpPr>
        <p:spPr>
          <a:xfrm>
            <a:off x="2694931" y="2350931"/>
            <a:ext cx="3139465" cy="625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287C004-92FC-DB60-AA50-85051110402B}"/>
              </a:ext>
            </a:extLst>
          </p:cNvPr>
          <p:cNvCxnSpPr>
            <a:cxnSpLocks/>
          </p:cNvCxnSpPr>
          <p:nvPr/>
        </p:nvCxnSpPr>
        <p:spPr>
          <a:xfrm flipH="1" flipV="1">
            <a:off x="2690998" y="2650838"/>
            <a:ext cx="3132053" cy="1577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1D5AEFC-C5E4-EA4F-9A58-E1CF96E5F26F}"/>
              </a:ext>
            </a:extLst>
          </p:cNvPr>
          <p:cNvCxnSpPr>
            <a:cxnSpLocks/>
          </p:cNvCxnSpPr>
          <p:nvPr/>
        </p:nvCxnSpPr>
        <p:spPr>
          <a:xfrm>
            <a:off x="2694930" y="2968423"/>
            <a:ext cx="3139465" cy="625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FE40DA7-B782-4C26-1328-DD75FD54F518}"/>
              </a:ext>
            </a:extLst>
          </p:cNvPr>
          <p:cNvCxnSpPr>
            <a:cxnSpLocks/>
          </p:cNvCxnSpPr>
          <p:nvPr/>
        </p:nvCxnSpPr>
        <p:spPr>
          <a:xfrm>
            <a:off x="5830691" y="3193266"/>
            <a:ext cx="2607423" cy="1033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E104B96-FFD7-8D66-088F-8C3F827F3992}"/>
              </a:ext>
            </a:extLst>
          </p:cNvPr>
          <p:cNvCxnSpPr>
            <a:cxnSpLocks/>
          </p:cNvCxnSpPr>
          <p:nvPr/>
        </p:nvCxnSpPr>
        <p:spPr>
          <a:xfrm flipH="1" flipV="1">
            <a:off x="2690997" y="3532708"/>
            <a:ext cx="3132053" cy="1577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1C51E73-8436-C52D-D53A-229600E651C1}"/>
              </a:ext>
            </a:extLst>
          </p:cNvPr>
          <p:cNvCxnSpPr>
            <a:cxnSpLocks/>
          </p:cNvCxnSpPr>
          <p:nvPr/>
        </p:nvCxnSpPr>
        <p:spPr>
          <a:xfrm>
            <a:off x="2698638" y="3899497"/>
            <a:ext cx="3139465" cy="625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25C2B76-F307-06B9-3FB3-6F4FAE357685}"/>
              </a:ext>
            </a:extLst>
          </p:cNvPr>
          <p:cNvCxnSpPr>
            <a:cxnSpLocks/>
          </p:cNvCxnSpPr>
          <p:nvPr/>
        </p:nvCxnSpPr>
        <p:spPr>
          <a:xfrm flipH="1" flipV="1">
            <a:off x="2694876" y="4208010"/>
            <a:ext cx="3132053" cy="1577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E2A99FB-5475-610A-C90C-9ED8B44C833A}"/>
              </a:ext>
            </a:extLst>
          </p:cNvPr>
          <p:cNvCxnSpPr>
            <a:cxnSpLocks/>
          </p:cNvCxnSpPr>
          <p:nvPr/>
        </p:nvCxnSpPr>
        <p:spPr>
          <a:xfrm>
            <a:off x="2697584" y="4788625"/>
            <a:ext cx="3139465" cy="625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092EE53-2688-CEA2-4627-4FC23F24C80F}"/>
              </a:ext>
            </a:extLst>
          </p:cNvPr>
          <p:cNvCxnSpPr>
            <a:cxnSpLocks/>
          </p:cNvCxnSpPr>
          <p:nvPr/>
        </p:nvCxnSpPr>
        <p:spPr>
          <a:xfrm>
            <a:off x="5827283" y="5143796"/>
            <a:ext cx="4656122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B20A5EB-7965-6D93-550F-8FE3CF476E9E}"/>
              </a:ext>
            </a:extLst>
          </p:cNvPr>
          <p:cNvCxnSpPr>
            <a:cxnSpLocks/>
          </p:cNvCxnSpPr>
          <p:nvPr/>
        </p:nvCxnSpPr>
        <p:spPr>
          <a:xfrm flipH="1">
            <a:off x="5838103" y="5452483"/>
            <a:ext cx="4648709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950EB16-24AD-0252-3BFA-2A15103B8EC1}"/>
              </a:ext>
            </a:extLst>
          </p:cNvPr>
          <p:cNvCxnSpPr>
            <a:cxnSpLocks/>
          </p:cNvCxnSpPr>
          <p:nvPr/>
        </p:nvCxnSpPr>
        <p:spPr>
          <a:xfrm flipH="1" flipV="1">
            <a:off x="2683586" y="5811749"/>
            <a:ext cx="3132053" cy="1577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46D40800-C04D-B66B-E115-E36BE2128CA0}"/>
              </a:ext>
            </a:extLst>
          </p:cNvPr>
          <p:cNvCxnSpPr>
            <a:cxnSpLocks/>
          </p:cNvCxnSpPr>
          <p:nvPr/>
        </p:nvCxnSpPr>
        <p:spPr>
          <a:xfrm flipH="1" flipV="1">
            <a:off x="955642" y="6116703"/>
            <a:ext cx="1735355" cy="788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92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</TotalTime>
  <Words>183</Words>
  <Application>Microsoft Office PowerPoint</Application>
  <PresentationFormat>Custom</PresentationFormat>
  <Paragraphs>65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Courier New</vt:lpstr>
      <vt:lpstr>Helvetica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Tarek Bouzelat</cp:lastModifiedBy>
  <cp:revision>16</cp:revision>
  <dcterms:created xsi:type="dcterms:W3CDTF">2026-06-03T14:04:06Z</dcterms:created>
  <dcterms:modified xsi:type="dcterms:W3CDTF">2026-06-08T13:39:22Z</dcterms:modified>
</cp:coreProperties>
</file>